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1100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Hello everyone, welcome to our session on "Advanced UI Development Techniques”</a:t>
            </a:r>
            <a:r>
              <a:rPr lang="en-US"/>
              <a:t>,In this presentation, we will delve into the world of Crafting User-Centric Interfaces: Mastering Advanced Forms, Validation, </a:t>
            </a:r>
            <a:r>
              <a:rPr lang="en-US"/>
              <a:t>Accessibility</a:t>
            </a:r>
            <a:r>
              <a:rPr lang="en-US"/>
              <a:t> and Branding.We'll cover Advanced Forms, Advanced Validation Techniques, </a:t>
            </a:r>
            <a:r>
              <a:rPr lang="en-US"/>
              <a:t>Accessibility</a:t>
            </a:r>
            <a:r>
              <a:rPr lang="en-US"/>
              <a:t> and Inclusive Design and Theming and Branding.</a:t>
            </a:r>
            <a:endParaRPr lang="en-US"/>
          </a:p>
        </p:txBody>
      </p:sp>
      <p:sp>
        <p:nvSpPr>
          <p:cNvPr id="145" name="Google Shape;145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The Challenge of Modern UI Design:</a:t>
            </a:r>
            <a:r>
              <a:rPr lang="en-US"/>
              <a:t> Creating user interfaces that are not only visually appealing but also functional, accessible, and aligned with brand identity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The Need for Advanced Techniques:</a:t>
            </a:r>
            <a:r>
              <a:rPr lang="en-US"/>
              <a:t> Mastering advanced UI techniques becomes crucial to overcome these challenges and craft exceptional user experiences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52" name="Google Shape;152;p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Designing Intuitive and Efficient Forms:</a:t>
            </a:r>
            <a:r>
              <a:rPr lang="en-US"/>
              <a:t> Crafting forms that are easy to understand, navigate, and complete, minimizing user frustration and maximizing data collection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Utilizing Advanced Form Controls and Input Fields:</a:t>
            </a:r>
            <a:r>
              <a:rPr lang="en-US"/>
              <a:t> Leveraging advanced form controls, such as masked input fields, date pickers, and autocomplete suggestions, to enhance form usability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Enhancing User Experience with Form Validation and Error Handling:</a:t>
            </a:r>
            <a:r>
              <a:rPr lang="en-US"/>
              <a:t> Implementing robust form validation techniques to detect and prevent errors, providing clear and actionable feedback to users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1" name="Google Shape;161;p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 This example </a:t>
            </a:r>
            <a:r>
              <a:rPr lang="en-US"/>
              <a:t>shows</a:t>
            </a:r>
            <a:r>
              <a:rPr lang="en-US"/>
              <a:t> the UI design of an sign in page </a:t>
            </a:r>
            <a:endParaRPr lang="en-US"/>
          </a:p>
        </p:txBody>
      </p:sp>
      <p:sp>
        <p:nvSpPr>
          <p:cNvPr id="170" name="Google Shape;170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Implementing Comprehensive Form Validation Strategies:</a:t>
            </a:r>
            <a:r>
              <a:rPr lang="en-US"/>
              <a:t> Employing a combination of server-side and client-side validation techniques to ensure data integrity and prevent invalid submissions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Utilizing Regular Expressions and Data Validation Libraries:</a:t>
            </a:r>
            <a:r>
              <a:rPr lang="en-US"/>
              <a:t> Leveraging regular expressions and data validation libraries to enforce specific input formats and data constraints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Ensuring Error Prevention and User-Friendly Error Messages:</a:t>
            </a:r>
            <a:r>
              <a:rPr lang="en-US"/>
              <a:t> Designing clear and informative error messages that guide users towards correcting errors and improving data quality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8" name="Google Shape;178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Creating Reg Exp Patterns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A regular expression constructs using a raw string (a sequence of characters preceded by the letter “r” such as r’I am a raw string’, r’12345String’, etc.). For example: RegExp(r’I am a RegExp’), RegExp(r’12345String’), RegExp(r'[0-9]\d+ab99′), etc. A RegExp will match as many occurrences as possible if it meets a given pattern.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Character Groups (\d, \w, \s, \D, \W, \S)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A character group is a symbol representing any character within a given set. For example, \d represents any single digit from 0-9, and \w stands for any alphanumeric character (including numbers and letters a-z, A-Z, 0-9). \s stands for any whitespace character (such as a space ‘ ‘, tab ‘\t’, or newline ‘\n’), \D is the opposite of \d and signifies any character that is not a digit.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In addition, \W is the opposite of \w and signifies any character that is not alphanumeric; \ S is the opposite of \s. It represents any character that is not a whitespace character and . signifies any character that is not a newline character (i.e., the end of a line, represented by \n).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86" name="Google Shape;186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Adhering to WCAG Guidelines and Best Practices:</a:t>
            </a:r>
            <a:r>
              <a:rPr lang="en-US"/>
              <a:t> Embracing WCAG (Web Content Accessibility Guidelines) to create accessible UIs that cater to users with diverse abilities and needs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17145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Designing for Color Blindness and Visual Impairments:</a:t>
            </a:r>
            <a:r>
              <a:rPr lang="en-US"/>
              <a:t> Implementing high-contrast color palettes, alternative text for images, and keyboard-navigable interfaces to ensure accessibility for visually impaired users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171450" lvl="0" indent="-1714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Considering Screen Reader Compatibility:</a:t>
            </a:r>
            <a:r>
              <a:rPr lang="en-US"/>
              <a:t> Ensuring that UI elements and content are compatible with screen readers, providing an accessible experience for users with visual impairments</a:t>
            </a:r>
            <a:endParaRPr lang="en-US"/>
          </a:p>
          <a:p>
            <a:pPr marL="171450" lvl="0" indent="-952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95" name="Google Shape;195;p7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Establishing a Consistent and Cohesive Visual Identity:</a:t>
            </a:r>
            <a:r>
              <a:rPr lang="en-US"/>
              <a:t> Defining brand guidelines and a consistent visual style across the UI, including color schemes, typography, and iconography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Implementing Theming Mechanisms to Manage UI Styles and Colors:</a:t>
            </a:r>
            <a:r>
              <a:rPr lang="en-US"/>
              <a:t> Utilizing theming mechanisms to separate UI styles from the underlying code, enabling easy customization and brand management</a:t>
            </a:r>
            <a:endParaRPr lang="en-US"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endParaRPr lang="en-US"/>
          </a:p>
          <a:p>
            <a:pPr marL="2857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Char char="•"/>
            </a:pPr>
            <a:r>
              <a:rPr lang="en-US" b="1"/>
              <a:t>Creating a Visually Appealing and Recognizable Brand Presence:</a:t>
            </a:r>
            <a:r>
              <a:rPr lang="en-US"/>
              <a:t> Designing a UI that is not only functional but also visually appealing and aligns with the brand's overall identity and values</a:t>
            </a:r>
            <a:endParaRPr lang="en-US"/>
          </a:p>
          <a:p>
            <a:pPr marL="285750" lvl="0" indent="-209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204" name="Google Shape;204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example shows the card themes of three types Silver, Royal Blue and Dark Grey</a:t>
            </a:r>
            <a:endParaRPr lang="en-US"/>
          </a:p>
        </p:txBody>
      </p:sp>
      <p:sp>
        <p:nvSpPr>
          <p:cNvPr id="212" name="Google Shape;212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matchingName="Title Slid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1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8" name="Google Shape;28;p11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411"/>
              </a:schemeClr>
            </a:solidFill>
            <a:ln>
              <a:noFill/>
            </a:ln>
          </p:spPr>
        </p:sp>
        <p:cxnSp>
          <p:nvCxnSpPr>
            <p:cNvPr id="29" name="Google Shape;29;p11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1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1" name="Google Shape;31;p11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294"/>
              </a:schemeClr>
            </a:solidFill>
            <a:ln>
              <a:noFill/>
            </a:ln>
          </p:spPr>
        </p:sp>
        <p:sp>
          <p:nvSpPr>
            <p:cNvPr id="32" name="Google Shape;32;p11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33" name="Google Shape;33;p11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Google Shape;34;p11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411"/>
              </a:srgbClr>
            </a:solidFill>
            <a:ln>
              <a:noFill/>
            </a:ln>
          </p:spPr>
        </p:sp>
        <p:sp>
          <p:nvSpPr>
            <p:cNvPr id="35" name="Google Shape;35;p11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411"/>
              </a:schemeClr>
            </a:solidFill>
            <a:ln>
              <a:noFill/>
            </a:ln>
          </p:spPr>
        </p:sp>
        <p:sp>
          <p:nvSpPr>
            <p:cNvPr id="36" name="Google Shape;36;p11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7" name="Google Shape;37;p11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8" name="Google Shape;38;p11"/>
          <p:cNvSpPr txBox="1"/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 panose="020B0603020202020204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11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 panose="020B0603020202020204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 panose="020B0603020202020204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65" name="Google Shape;65;p15"/>
          <p:cNvSpPr txBox="1"/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/>
        </p:txBody>
      </p:sp>
      <p:sp>
        <p:nvSpPr>
          <p:cNvPr id="67" name="Google Shape;67;p15"/>
          <p:cNvSpPr txBox="1"/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 panose="020B0603020202020204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/>
        </p:txBody>
      </p:sp>
      <p:sp>
        <p:nvSpPr>
          <p:cNvPr id="84" name="Google Shape;84;p18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 panose="020B0603020202020204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9"/>
          <p:cNvSpPr/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9"/>
          <p:cNvSpPr txBox="1"/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1" name="Google Shape;91;p19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93" name="Google Shape;93;p19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1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07" name="Google Shape;107;p21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 panose="020B0604020202020204"/>
              <a:buNone/>
            </a:pPr>
            <a:r>
              <a:rPr lang="en-US" sz="8000" b="0" i="0" u="none" strike="noStrike" cap="none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 panose="020B0604020202020204"/>
              <a:buNone/>
            </a:pPr>
            <a:r>
              <a:rPr lang="en-US" sz="8000" b="0" i="0" u="none" strike="noStrike" cap="none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 panose="020B0603020202020204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3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3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sp>
        <p:nvSpPr>
          <p:cNvPr id="122" name="Google Shape;122;p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 panose="020B0604020202020204"/>
              <a:buNone/>
            </a:pPr>
            <a:r>
              <a:rPr lang="en-US" sz="8000" b="0" i="0" u="none" strike="noStrike" cap="none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 panose="020B0604020202020204"/>
              <a:buNone/>
            </a:pPr>
            <a:r>
              <a:rPr lang="en-US" sz="8000" b="0" i="0" u="none" strike="noStrike" cap="none">
                <a:solidFill>
                  <a:srgbClr val="9EDFF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 panose="020B0603020202020204"/>
              <a:buNone/>
              <a:defRPr sz="44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 txBox="1"/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Font typeface="Trebuchet MS" panose="020B0603020202020204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Font typeface="Trebuchet MS" panose="020B0603020202020204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Font typeface="Trebuchet MS" panose="020B0603020202020204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Font typeface="Trebuchet MS" panose="020B0603020202020204"/>
              <a:buNone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8" name="Google Shape;128;p24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0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Google Shape;11;p10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" name="Google Shape;12;p10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411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3" name="Google Shape;13;p10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294"/>
              </a:schemeClr>
            </a:solidFill>
            <a:ln>
              <a:noFill/>
            </a:ln>
          </p:spPr>
        </p:sp>
        <p:sp>
          <p:nvSpPr>
            <p:cNvPr id="14" name="Google Shape;14;p10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5" name="Google Shape;15;p10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10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411"/>
              </a:srgbClr>
            </a:solidFill>
            <a:ln>
              <a:noFill/>
            </a:ln>
          </p:spPr>
        </p:sp>
        <p:sp>
          <p:nvSpPr>
            <p:cNvPr id="17" name="Google Shape;17;p10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411"/>
              </a:schemeClr>
            </a:solidFill>
            <a:ln>
              <a:noFill/>
            </a:ln>
          </p:spPr>
        </p:sp>
        <p:sp>
          <p:nvSpPr>
            <p:cNvPr id="18" name="Google Shape;18;p10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9" name="Google Shape;19;p1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4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10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411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1" name="Google Shape;21;p10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 panose="020B0603020202020204"/>
              <a:buNone/>
              <a:defRPr sz="36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2" name="Google Shape;22;p10"/>
          <p:cNvSpPr txBox="1"/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914400" marR="0" lvl="1" indent="-30988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1371600" marR="0" lvl="2" indent="-29972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1828800" marR="0" lvl="3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2286000" marR="0" lvl="4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2743200" marR="0" lvl="5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3200400" marR="0" lvl="6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3657600" marR="0" lvl="7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4114800" marR="0" lvl="8" indent="-28956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chemeClr val="accent1"/>
                </a:solidFill>
                <a:latin typeface="Trebuchet MS" panose="020B0603020202020204"/>
                <a:ea typeface="Trebuchet MS" panose="020B0603020202020204"/>
                <a:cs typeface="Trebuchet MS" panose="020B0603020202020204"/>
                <a:sym typeface="Trebuchet MS" panose="020B0603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7764051" y="3424111"/>
            <a:ext cx="4246711" cy="1764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 panose="020B0604020202020204"/>
              <a:buNone/>
            </a:pPr>
            <a:r>
              <a:rPr lang="en-US" sz="36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Crafting User-Centric Interfaces: Mastering Advanced Forms, Validation, Accessibility, and Branding</a:t>
            </a:r>
            <a:endParaRPr sz="3600" b="1">
              <a:solidFill>
                <a:schemeClr val="lt1"/>
              </a:solidFill>
            </a:endParaRPr>
          </a:p>
        </p:txBody>
      </p:sp>
      <p:sp>
        <p:nvSpPr>
          <p:cNvPr id="148" name="Google Shape;148;p1"/>
          <p:cNvSpPr txBox="1"/>
          <p:nvPr>
            <p:ph type="subTitle" idx="1"/>
          </p:nvPr>
        </p:nvSpPr>
        <p:spPr>
          <a:xfrm>
            <a:off x="2032956" y="566069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sz="2000">
                <a:solidFill>
                  <a:srgbClr val="1F1F1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 </a:t>
            </a:r>
            <a:r>
              <a:rPr lang="en-US" sz="24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Unleashing the Power of User Experience and Visual Identity</a:t>
            </a:r>
            <a:endParaRPr sz="2400" b="1">
              <a:solidFill>
                <a:schemeClr val="lt1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80000"/>
              <a:buNone/>
            </a:pPr>
            <a:br>
              <a:rPr lang="en-US"/>
            </a:b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>
            <p:ph type="title"/>
          </p:nvPr>
        </p:nvSpPr>
        <p:spPr>
          <a:xfrm>
            <a:off x="838201" y="365125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Introduction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5" name="Google Shape;155;p2" descr="A group of people standing next to a computer screen&#10;&#10;Description automatically generated"/>
          <p:cNvPicPr preferRelativeResize="0"/>
          <p:nvPr/>
        </p:nvPicPr>
        <p:blipFill rotWithShape="1">
          <a:blip r:embed="rId1"/>
          <a:srcRect t="4948" r="-1566" b="9115"/>
          <a:stretch>
            <a:fillRect/>
          </a:stretch>
        </p:blipFill>
        <p:spPr>
          <a:xfrm>
            <a:off x="6355356" y="1677682"/>
            <a:ext cx="4179262" cy="3536161"/>
          </a:xfrm>
          <a:prstGeom prst="rect">
            <a:avLst/>
          </a:prstGeom>
          <a:noFill/>
          <a:ln>
            <a:noFill/>
          </a:ln>
          <a:effectLst>
            <a:reflection stA="30000" endPos="30000" dist="5000" dir="5400000" sy="-100000" algn="bl" rotWithShape="0"/>
          </a:effectLst>
        </p:spPr>
      </p:pic>
      <p:sp>
        <p:nvSpPr>
          <p:cNvPr id="156" name="Google Shape;156;p2"/>
          <p:cNvSpPr/>
          <p:nvPr/>
        </p:nvSpPr>
        <p:spPr>
          <a:xfrm>
            <a:off x="890787" y="2173309"/>
            <a:ext cx="4636555" cy="314931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 panose="020F050202020403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Challenge of Modern UI Design ​</a:t>
            </a:r>
            <a:endParaRPr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20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 panose="020F050202020403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Need for Advanced Techniques​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7" name="Google Shape;157;p2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1649473" y="583294"/>
            <a:ext cx="6743698" cy="1556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ookman Old Style" panose="02050604050505020204"/>
              <a:buNone/>
            </a:pPr>
            <a:br>
              <a:rPr lang="en-US" sz="24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br>
              <a:rPr lang="en-US" sz="24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Forms and User Interactions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ookman Old Style" panose="02050604050505020204"/>
              <a:buNone/>
            </a:pPr>
            <a:br>
              <a:rPr lang="en-US" sz="24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24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164" name="Google Shape;164;p3" descr="A person looking at a screen&#10;&#10;Description automatically generated"/>
          <p:cNvPicPr preferRelativeResize="0"/>
          <p:nvPr/>
        </p:nvPicPr>
        <p:blipFill rotWithShape="1">
          <a:blip r:embed="rId1"/>
          <a:srcRect r="-4" b="-4"/>
          <a:stretch>
            <a:fillRect/>
          </a:stretch>
        </p:blipFill>
        <p:spPr>
          <a:xfrm>
            <a:off x="8628244" y="695410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165" name="Google Shape;165;p3" descr="A group of people working on a computer&#10;&#10;Description automatically generated"/>
          <p:cNvPicPr preferRelativeResize="0"/>
          <p:nvPr/>
        </p:nvPicPr>
        <p:blipFill rotWithShape="1">
          <a:blip r:embed="rId2"/>
          <a:srcRect r="-4" b="-4"/>
          <a:stretch>
            <a:fillRect/>
          </a:stretch>
        </p:blipFill>
        <p:spPr>
          <a:xfrm>
            <a:off x="8628244" y="3633860"/>
            <a:ext cx="2592126" cy="2592126"/>
          </a:xfrm>
          <a:custGeom>
            <a:avLst/>
            <a:gdLst/>
            <a:ahLst/>
            <a:cxnLst/>
            <a:rect l="l" t="t" r="r" b="b"/>
            <a:pathLst>
              <a:path w="2592126" h="2592126" extrusionOk="0">
                <a:moveTo>
                  <a:pt x="1296063" y="0"/>
                </a:moveTo>
                <a:cubicBezTo>
                  <a:pt x="2011859" y="0"/>
                  <a:pt x="2592126" y="580267"/>
                  <a:pt x="2592126" y="1296063"/>
                </a:cubicBezTo>
                <a:cubicBezTo>
                  <a:pt x="2592126" y="2011859"/>
                  <a:pt x="2011859" y="2592126"/>
                  <a:pt x="1296063" y="2592126"/>
                </a:cubicBezTo>
                <a:cubicBezTo>
                  <a:pt x="580267" y="2592126"/>
                  <a:pt x="0" y="2011859"/>
                  <a:pt x="0" y="1296063"/>
                </a:cubicBezTo>
                <a:cubicBezTo>
                  <a:pt x="0" y="580267"/>
                  <a:pt x="580267" y="0"/>
                  <a:pt x="1296063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66" name="Google Shape;166;p3"/>
          <p:cNvSpPr/>
          <p:nvPr/>
        </p:nvSpPr>
        <p:spPr>
          <a:xfrm>
            <a:off x="1102752" y="2181358"/>
            <a:ext cx="5355465" cy="3348506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Designing Intuitive and Efficient Forms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Utilizing Advanced Form Controls and Input Fields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2000" b="0" i="0" u="none" strike="noStrike" cap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Enhancing User Experience with Form Validation and Error Handling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Trebuchet MS" panose="020B0603020202020204"/>
              <a:ea typeface="Trebuchet MS" panose="020B0603020202020204"/>
              <a:cs typeface="Trebuchet MS" panose="020B0603020202020204"/>
              <a:sym typeface="Trebuchet MS" panose="020B0603020202020204"/>
            </a:endParaRPr>
          </a:p>
        </p:txBody>
      </p:sp>
      <p:pic>
        <p:nvPicPr>
          <p:cNvPr id="167" name="Google Shape;167;p3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Sign in page UI</a:t>
            </a:r>
            <a:endParaRPr lang="en-US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3" name="Google Shape;173;p4" descr="A hand holding a phone&#10;&#10;Description automatically generated"/>
          <p:cNvPicPr preferRelativeResize="0"/>
          <p:nvPr>
            <p:ph type="body" idx="1"/>
          </p:nvPr>
        </p:nvPicPr>
        <p:blipFill rotWithShape="1">
          <a:blip r:embed="rId1"/>
          <a:srcRect t="782" b="-259"/>
          <a:stretch>
            <a:fillRect/>
          </a:stretch>
        </p:blipFill>
        <p:spPr>
          <a:xfrm>
            <a:off x="3232186" y="2022110"/>
            <a:ext cx="6041275" cy="409331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  <p:pic>
        <p:nvPicPr>
          <p:cNvPr id="174" name="Google Shape;174;p4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type="title"/>
          </p:nvPr>
        </p:nvSpPr>
        <p:spPr>
          <a:xfrm>
            <a:off x="838201" y="365125"/>
            <a:ext cx="5251316" cy="1807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Validation Techniques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1" name="Google Shape;181;p5" descr="A group of people around a table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089829" y="1668350"/>
            <a:ext cx="58293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5"/>
          <p:cNvSpPr/>
          <p:nvPr/>
        </p:nvSpPr>
        <p:spPr>
          <a:xfrm>
            <a:off x="1683824" y="1885343"/>
            <a:ext cx="3820732" cy="4389549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Implementing Comprehensive Form Validation Strategies​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Utilizing Regular Expressions and Data Validation Libraries 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Ensuring Error Prevention and User-Friendly Error Messages​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83" name="Google Shape;183;p5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Regular Expressions</a:t>
            </a:r>
            <a:endParaRPr b="1"/>
          </a:p>
        </p:txBody>
      </p:sp>
      <p:pic>
        <p:nvPicPr>
          <p:cNvPr id="189" name="Google Shape;189;p6" descr="A black screen with white text&#10;&#10;Description automatically generated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757837" y="2335230"/>
            <a:ext cx="6147930" cy="2345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6" descr="A screenshot of a phone number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90902" y="212503"/>
            <a:ext cx="3281831" cy="6432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 descr="A blue and black logo&#10;&#10;Description automatically generated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 txBox="1"/>
          <p:nvPr>
            <p:ph type="title"/>
          </p:nvPr>
        </p:nvSpPr>
        <p:spPr>
          <a:xfrm>
            <a:off x="1146342" y="682676"/>
            <a:ext cx="5386947" cy="1616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ookman Old Style" panose="02050604050505020204"/>
              <a:buNone/>
            </a:pPr>
            <a:br>
              <a:rPr lang="en-US" sz="24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br>
              <a:rPr lang="en-US" sz="2400" b="1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Accessibility and Inclusive Design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ookman Old Style" panose="02050604050505020204"/>
              <a:buNone/>
            </a:pPr>
            <a:br>
              <a:rPr lang="en-US" sz="2800"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rPr>
            </a:br>
            <a:endParaRPr sz="2800">
              <a:latin typeface="Bookman Old Style" panose="02050604050505020204"/>
              <a:ea typeface="Bookman Old Style" panose="02050604050505020204"/>
              <a:cs typeface="Bookman Old Style" panose="02050604050505020204"/>
              <a:sym typeface="Bookman Old Style" panose="02050604050505020204"/>
            </a:endParaRPr>
          </a:p>
        </p:txBody>
      </p:sp>
      <p:pic>
        <p:nvPicPr>
          <p:cNvPr id="198" name="Google Shape;198;p7" descr="A person in a wheelchair and a person in a wheelchair&#10;&#10;Description automatically generated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10459" y="1596980"/>
            <a:ext cx="4114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7"/>
          <p:cNvSpPr/>
          <p:nvPr/>
        </p:nvSpPr>
        <p:spPr>
          <a:xfrm>
            <a:off x="1026947" y="2298879"/>
            <a:ext cx="4818845" cy="3412901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 panose="020F050202020403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Adhering to WCAG Guidelines and Best Practices​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 panose="020F050202020403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Designing for Color Blindness and Visual Impairments​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br>
              <a:rPr lang="en-US"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Calibri" panose="020F050202020403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Considering Screen Reader Compatibility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0" name="Google Shape;200;p7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753389" y="837758"/>
            <a:ext cx="4843762" cy="1401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Theming and Branding</a:t>
            </a:r>
            <a:endParaRPr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7" name="Google Shape;207;p8" descr="A computer screen with hands pointing at a circle&#10;&#10;Description automatically generated"/>
          <p:cNvPicPr preferRelativeResize="0"/>
          <p:nvPr/>
        </p:nvPicPr>
        <p:blipFill rotWithShape="1">
          <a:blip r:embed="rId1"/>
          <a:srcRect r="-259" b="6769"/>
          <a:stretch>
            <a:fillRect/>
          </a:stretch>
        </p:blipFill>
        <p:spPr>
          <a:xfrm>
            <a:off x="6024093" y="1371600"/>
            <a:ext cx="4125543" cy="3836196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1309352" y="2020373"/>
            <a:ext cx="4217830" cy="3756338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2EDF9"/>
              </a:gs>
              <a:gs pos="88000">
                <a:srgbClr val="7BD1F1"/>
              </a:gs>
              <a:gs pos="100000">
                <a:srgbClr val="7BD1F1"/>
              </a:gs>
            </a:gsLst>
            <a:lin ang="5400000" scaled="0"/>
          </a:gradFill>
          <a:ln w="127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Establishing a Consistent and Cohesive Visual Identity​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endParaRPr sz="2000" b="0" i="0" u="none" strike="noStrike" cap="none">
              <a:solidFill>
                <a:srgbClr val="40404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Implementing Theming Mechanisms to Manage UI Styles and Colors​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​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 panose="020B0604020202020204"/>
              <a:buChar char="•"/>
            </a:pPr>
            <a:r>
              <a:rPr lang="en-US" sz="2000" b="0" i="0" u="none" strike="noStrike" cap="non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 Creating a Visually Appealing  and Recognizable Brand Presence​</a:t>
            </a:r>
            <a:endParaRPr sz="20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09" name="Google Shape;209;p8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Calibri" panose="020F0502020204030204"/>
              <a:buNone/>
            </a:pPr>
            <a:r>
              <a:rPr lang="en-US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Example: Card Theme</a:t>
            </a:r>
            <a:endParaRPr b="1"/>
          </a:p>
        </p:txBody>
      </p:sp>
      <p:pic>
        <p:nvPicPr>
          <p:cNvPr id="215" name="Google Shape;215;p9" descr="A screenshot of a phone&#10;&#10;Description automatically generated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2314034" y="2045688"/>
            <a:ext cx="6096000" cy="3380772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313"/>
              </a:srgbClr>
            </a:outerShdw>
          </a:effectLst>
        </p:spPr>
      </p:pic>
      <p:pic>
        <p:nvPicPr>
          <p:cNvPr id="216" name="Google Shape;216;p9" descr="A blue and black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95449" y="5796736"/>
            <a:ext cx="15906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1100</Words>
  <Application>WPS Presentation</Application>
  <PresentationFormat/>
  <Paragraphs>52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SimSun</vt:lpstr>
      <vt:lpstr>Wingdings</vt:lpstr>
      <vt:lpstr>Arial</vt:lpstr>
      <vt:lpstr>Trebuchet MS</vt:lpstr>
      <vt:lpstr>Noto Sans Symbols</vt:lpstr>
      <vt:lpstr>Segoe Print</vt:lpstr>
      <vt:lpstr>Calibri</vt:lpstr>
      <vt:lpstr>Bookman Old Style</vt:lpstr>
      <vt:lpstr>Microsoft YaHei</vt:lpstr>
      <vt:lpstr>Arial Unicode MS</vt:lpstr>
      <vt:lpstr>Facet</vt:lpstr>
      <vt:lpstr>Crafting User-Centric Interfaces: Mastering Advanced Forms, Validation, Accessibility, and Branding</vt:lpstr>
      <vt:lpstr>Introduction</vt:lpstr>
      <vt:lpstr> </vt:lpstr>
      <vt:lpstr>Example: Sign in page UI</vt:lpstr>
      <vt:lpstr>Advanced Validation Techniques</vt:lpstr>
      <vt:lpstr>Example: Regular Expressions</vt:lpstr>
      <vt:lpstr> </vt:lpstr>
      <vt:lpstr>Theming and Branding</vt:lpstr>
      <vt:lpstr>Example: Card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Crafting User-Centric Interfaces: Mastering Advanced Forms, Validation, Accessibility, and Branding</dc:title>
  <dc:creator>Admin</dc:creator>
  <cp:lastModifiedBy>dell</cp:lastModifiedBy>
  <cp:revision>1</cp:revision>
  <dcterms:created xsi:type="dcterms:W3CDTF">2025-08-28T15:18:34Z</dcterms:created>
  <dcterms:modified xsi:type="dcterms:W3CDTF">2025-08-28T15:18:34Z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D532C2727FE742F7B019161C360869C7_12</vt:lpwstr>
  </property>
  <property fmtid="{D5CDD505-2E9C-101B-9397-08002B2CF9AE}" pid="3" name="KSOProductBuildVer">
    <vt:lpwstr>1033-12.2.0.21931</vt:lpwstr>
  </property>
</Properties>
</file>