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YIyBOmANkusG1wRpYHagJV21B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1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Hello everyone, welcome to our session on "Advanced UI Development Techniques”</a:t>
            </a:r>
            <a:r>
              <a:rPr lang="en-US"/>
              <a:t>,In this presentation we will delve into the world of Advanced UI Development Techniques : Mastering the Art of Engaging and Scalable Interfaces.We'll cover </a:t>
            </a:r>
            <a:endParaRPr/>
          </a:p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Advanced widget usage, Custom widget, Complex widgets, Responsive Design, Advanced animations and Motion Design, short description of State management and Integrating UI with Backend services.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UI design in Flutter involves utilizing its framework and tools to create visually appealing and user-friendly interfaces for mobile applications.</a:t>
            </a:r>
            <a:endParaRPr/>
          </a:p>
          <a:p>
            <a:pPr marL="28575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/>
              <a:t>Modern UI Challenge: Develop visually appealing, functional, scalable, and maintainable user interfaces across diverse platforms and devices.​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​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285750" lvl="0" indent="-247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lang="en-US"/>
              <a:t>Advanced Techniques Requirement: Master advanced UI development techniques to overcome challenges and create exceptional user experiences.​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Harnessing the Full Potential of Built-in Widgets:</a:t>
            </a:r>
            <a:r>
              <a:rPr lang="en-US"/>
              <a:t> Unleashing the hidden capabilities of existing widgets to achieve sophisticated UI elements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Creating Custom Widgets for Specific Needs:</a:t>
            </a:r>
            <a:r>
              <a:rPr lang="en-US"/>
              <a:t> Designing reusable and customizable widgets to encapsulate UI logic and styling, enhancing maintainability and consistency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Leveraging Widget Libraries and Frameworks:</a:t>
            </a:r>
            <a:r>
              <a:rPr lang="en-US"/>
              <a:t> Utilizing pre-built widget libraries and frameworks to streamline development and access a wealth of UI components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ListView: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Displays items in a </a:t>
            </a:r>
            <a:r>
              <a:rPr lang="en-US" sz="1200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one-dimensional layout:</a:t>
            </a: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 either vertically (default) or horizontally.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Useful for lists of text, images, cards, or any content that follows a linear order.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Offers various constructors for different scenarios: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ListView.builder for dynamically generating items from a data source.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ListView.separated for adding separators between items.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ListView.custom for full control over layout and scrolling.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lvl="0" indent="-209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 View: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Arranges items in a </a:t>
            </a:r>
            <a:r>
              <a:rPr lang="en-US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two-dimensional grid layout:</a:t>
            </a: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 rows and columns.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Suitable for photo galleries, product catalogs, or any visually oriented data.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Includes constructors for defining the number of items per row/column and spacing between them.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GridView.count specifies the number of items in each row or column.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GridView.builder similar to List View. builder but arranges items in a grid.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GridView.extent uses a fixed size for each item.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Working with tabs is a common pattern in apps that follow the Material Design guidelines.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Flutter includes a convenient way to create tab layouts as part of the material library.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This recipe creates a tabbed example using the following steps</a:t>
            </a:r>
            <a:r>
              <a:rPr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Create a Tab Controller.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Create the tabs.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Create content for each tab.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The navigation drawer in Flutter allows users to navigate to different pages of your app. 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The navigation drawer is added using the </a:t>
            </a: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Drawer </a:t>
            </a:r>
            <a:r>
              <a:rPr lang="en-US" sz="12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widget.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It can be opened via swipe gesture or by clicking on the menu icon in the app bar.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The navigation drawer can be used as an alternate option to the TabBar widget.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It is recommended to use a navigation drawer when you have at least five pages to navigate.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 bottom sheet is a UI component that slides up from the bottom of the screen to display additional content or options. 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It’s commonly used to present contextual actions, settings, or supplementary information without obstructing the main content of your app. 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Flutter’s Bottom sheet widget makes it easy to implement this interaction pattern.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Cutom Widgets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 Flutter, a custom widget is a user-defined component that encapsulates a specific UI element or functionality. 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They serve as the building blocks of your application, ensuring code reusability, maintainability, and a consistent design language.</a:t>
            </a: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Benefits of using custom widgets: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Code reusability:</a:t>
            </a:r>
            <a:r>
              <a:rPr lang="en-US"/>
              <a:t> Reduce code duplication by creating a single widget that can be used multiple times.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Maintainability:</a:t>
            </a:r>
            <a:r>
              <a:rPr lang="en-US"/>
              <a:t> Easier to update and maintain your UI if changes are needed in a single location (the custom widget).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Consistency:</a:t>
            </a:r>
            <a:r>
              <a:rPr lang="en-US"/>
              <a:t> Enforce a consistent design language throughout your app by controlling the look and feel of each element through custom widgets.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Modularity:</a:t>
            </a:r>
            <a:r>
              <a:rPr lang="en-US"/>
              <a:t> Break down your UI into smaller, independent components, making it easier to understand and manage.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Flexibility:</a:t>
            </a:r>
            <a:r>
              <a:rPr lang="en-US"/>
              <a:t> Customize the behavior and appearance of your UI elements to meet your specific needs.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What defines a custom widget: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Dart file:</a:t>
            </a:r>
            <a:r>
              <a:rPr lang="en-US"/>
              <a:t> Custom widgets are typically defined in separate Dart files, allowing for better organization and maintainability.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Constructor:</a:t>
            </a:r>
            <a:r>
              <a:rPr lang="en-US"/>
              <a:t> This defines the parameters (inputs) your widget requires to function.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Build method:</a:t>
            </a:r>
            <a:r>
              <a:rPr lang="en-US"/>
              <a:t> This method describes how the widget's UI is constructed based on its parameters and state.</a:t>
            </a:r>
            <a:endParaRPr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State management:</a:t>
            </a:r>
            <a:r>
              <a:rPr lang="en-US"/>
              <a:t> Some custom widgets may need to manage their own internal state, making them more complex.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Designing Effective Layouts for Various Screen Sizes:</a:t>
            </a:r>
            <a:r>
              <a:rPr lang="en-US"/>
              <a:t> Crafting layouts that adapt seamlessly to different devices and screen orientations, ensuring optimal user experience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Mastering Layout Managers and Techniques:</a:t>
            </a:r>
            <a:r>
              <a:rPr lang="en-US"/>
              <a:t> Employing layout managers and techniques to achieve organized and structured UI layouts, catering to different user interactions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Implementing Responsive Design Principles:</a:t>
            </a:r>
            <a:r>
              <a:rPr lang="en-US"/>
              <a:t> Embracing responsive design principles to dynamically adjust UI layouts based on screen size, ensuring consistent user experience across devices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276" name="Google Shape;27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Incorporating Advanced Animation Techniques:</a:t>
            </a:r>
            <a:r>
              <a:rPr lang="en-US"/>
              <a:t> Enhancing UI interactivity and engagement through advanced animation techniques, such as physics-based animations and transitions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Utilizing Motion Design Principles:</a:t>
            </a:r>
            <a:r>
              <a:rPr lang="en-US"/>
              <a:t> Applying motion design principles to create visually appealing and intuitive user experiences, guiding users through interactions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Employing Animation Libraries and Frameworks:</a:t>
            </a:r>
            <a:r>
              <a:rPr lang="en-US"/>
              <a:t> Leveraging animation libraries and frameworks to simplify animation implementation, streamline workflows, and access a range of animation effects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Effectively Managing UI State in Large-Scale Applications:</a:t>
            </a:r>
            <a:r>
              <a:rPr lang="en-US"/>
              <a:t> Addressing the complexities of state management in large applications, ensuring data consistency and synchronization across multiple UI components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Utilizing State Management Libraries and Frameworks:</a:t>
            </a:r>
            <a:r>
              <a:rPr lang="en-US"/>
              <a:t> Employing state management libraries and frameworks to streamline state management, implement state change notifications, and handle complexity efficiently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Addressing State Complexity and Performance Challenges:</a:t>
            </a:r>
            <a:r>
              <a:rPr lang="en-US"/>
              <a:t> Implementing strategies to optimize state management performance, minimize performance bottlenecks, and handle large amounts of data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</p:txBody>
      </p:sp>
      <p:sp>
        <p:nvSpPr>
          <p:cNvPr id="325" name="Google Shape;325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Ø"/>
            </a:pPr>
            <a:r>
              <a:rPr lang="en-US" b="1"/>
              <a:t>Connecting UI Components with Backend Services:</a:t>
            </a:r>
            <a:r>
              <a:rPr lang="en-US"/>
              <a:t> Establishing seamless communication between UI components and backend services, enabling data retrieval and manipulation</a:t>
            </a:r>
            <a:endParaRPr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Ø"/>
            </a:pPr>
            <a:r>
              <a:rPr lang="en-US" b="1"/>
              <a:t>Implementing Data Fetching and Caching Strategies:</a:t>
            </a:r>
            <a:r>
              <a:rPr lang="en-US"/>
              <a:t> Optimizing data fetching strategies to minimize network requests and improve performance, utilizing caching mechanisms for efficient data retrieval</a:t>
            </a:r>
            <a:endParaRPr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Ø"/>
            </a:pPr>
            <a:r>
              <a:rPr lang="en-US" b="1"/>
              <a:t>Handling Network Requests and Error Scenarios Gracefully:</a:t>
            </a:r>
            <a:r>
              <a:rPr lang="en-US"/>
              <a:t> Implementing robust error handling mechanisms to gracefully handle network errors and provide informative feedback to users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Recap of Key Takeaways:</a:t>
            </a:r>
            <a:r>
              <a:rPr lang="en-US"/>
              <a:t> Summarizing the essential concepts and techniques covered in the presentation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Emphasis on Mastering Advanced UI Development Techniques:</a:t>
            </a:r>
            <a:r>
              <a:rPr lang="en-US"/>
              <a:t> Reinforcing the importance of mastering advanced UI development techniques to create exceptional user experiences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br>
              <a:rPr lang="en-US"/>
            </a:br>
            <a:endParaRPr/>
          </a:p>
          <a:p>
            <a:pPr marL="285750" lvl="0" indent="-2857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b="1"/>
              <a:t>Encouragement for Continuous Learning and Experimentation:</a:t>
            </a:r>
            <a:r>
              <a:rPr lang="en-US"/>
              <a:t> Fostering a culture of continuous learning and experimentation to stay at the forefront of UI development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4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8" name="Google Shape;28;p2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9" name="Google Shape;29;p2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2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" name="Google Shape;31;p24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32" name="Google Shape;32;p24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3" name="Google Shape;33;p2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4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35" name="Google Shape;35;p24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6" name="Google Shape;36;p24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37" name="Google Shape;37;p2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38;p24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2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32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91" name="Google Shape;91;p3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3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3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3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3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4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4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3" name="Google Shape;103;p34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3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34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3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5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5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3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6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6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8" name="Google Shape;118;p36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3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36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36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7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7" name="Google Shape;127;p37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3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8"/>
          <p:cNvSpPr txBox="1">
            <a:spLocks noGrp="1"/>
          </p:cNvSpPr>
          <p:nvPr>
            <p:ph type="body" idx="1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4" name="Google Shape;134;p3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9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3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2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2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3;p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4" name="Google Shape;14;p2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17" name="Google Shape;17;p2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8" name="Google Shape;18;p2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2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3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gif"/><Relationship Id="rId3" Type="http://schemas.openxmlformats.org/officeDocument/2006/relationships/image" Target="../media/image25.gif"/><Relationship Id="rId7" Type="http://schemas.openxmlformats.org/officeDocument/2006/relationships/image" Target="../media/image29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gif"/><Relationship Id="rId11" Type="http://schemas.openxmlformats.org/officeDocument/2006/relationships/image" Target="../media/image4.png"/><Relationship Id="rId5" Type="http://schemas.openxmlformats.org/officeDocument/2006/relationships/image" Target="../media/image27.gif"/><Relationship Id="rId10" Type="http://schemas.openxmlformats.org/officeDocument/2006/relationships/image" Target="../media/image32.gif"/><Relationship Id="rId4" Type="http://schemas.openxmlformats.org/officeDocument/2006/relationships/image" Target="../media/image26.gif"/><Relationship Id="rId9" Type="http://schemas.openxmlformats.org/officeDocument/2006/relationships/image" Target="../media/image31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>
            <a:spLocks noGrp="1"/>
          </p:cNvSpPr>
          <p:nvPr>
            <p:ph type="ctrTitle"/>
          </p:nvPr>
        </p:nvSpPr>
        <p:spPr>
          <a:xfrm>
            <a:off x="257577" y="3484981"/>
            <a:ext cx="513008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Font typeface="Arial"/>
              <a:buNone/>
            </a:pPr>
            <a:br>
              <a:rPr lang="en-US" sz="2200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200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200" dirty="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200" dirty="0">
                <a:latin typeface="Arial"/>
                <a:ea typeface="Arial"/>
                <a:cs typeface="Arial"/>
                <a:sym typeface="Arial"/>
              </a:rPr>
            </a:br>
            <a:br>
              <a:rPr lang="en-US" sz="22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Advanced UI Development Techniques: Mastering the Art of Engaging and Scalable Interfaces</a:t>
            </a:r>
            <a:endParaRPr sz="3200" b="1" dirty="0"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br>
              <a:rPr lang="en-US" dirty="0"/>
            </a:br>
            <a:endParaRPr dirty="0">
              <a:solidFill>
                <a:schemeClr val="lt1"/>
              </a:solidFill>
            </a:endParaRPr>
          </a:p>
        </p:txBody>
      </p:sp>
      <p:sp>
        <p:nvSpPr>
          <p:cNvPr id="148" name="Google Shape;148;p1"/>
          <p:cNvSpPr txBox="1">
            <a:spLocks noGrp="1"/>
          </p:cNvSpPr>
          <p:nvPr>
            <p:ph type="subTitle" idx="1"/>
          </p:nvPr>
        </p:nvSpPr>
        <p:spPr>
          <a:xfrm>
            <a:off x="79658" y="5649960"/>
            <a:ext cx="6876148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ct val="79999"/>
              <a:buNone/>
            </a:pPr>
            <a:r>
              <a:rPr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Unleashing the Power of Custom Widgets, Complex Layouts, Animations, State Management, and Backend Integration</a:t>
            </a:r>
            <a:endParaRPr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ct val="79999"/>
              <a:buNone/>
            </a:pPr>
            <a:br>
              <a:rPr lang="en-US"/>
            </a:br>
            <a:endParaRPr/>
          </a:p>
        </p:txBody>
      </p:sp>
      <p:pic>
        <p:nvPicPr>
          <p:cNvPr id="149" name="Google Shape;149;p1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4972" y="253084"/>
            <a:ext cx="3810000" cy="263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Bookman Old Style"/>
              <a:buNone/>
            </a:pPr>
            <a:br>
              <a:rPr lang="en-US" sz="3100" b="1"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Bookman Old Style"/>
              <a:buNone/>
            </a:pPr>
            <a:br>
              <a:rPr lang="en-US" sz="31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31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5" name="Google Shape;155;p2"/>
          <p:cNvSpPr txBox="1">
            <a:spLocks noGrp="1"/>
          </p:cNvSpPr>
          <p:nvPr>
            <p:ph type="body" idx="1"/>
          </p:nvPr>
        </p:nvSpPr>
        <p:spPr>
          <a:xfrm>
            <a:off x="6513788" y="2333297"/>
            <a:ext cx="4840010" cy="3843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280"/>
              <a:buNone/>
            </a:pPr>
            <a:br>
              <a:rPr lang="en-US" sz="16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1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156" name="Google Shape;156;p2" descr="A person sitting at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3073" y="539899"/>
            <a:ext cx="6096000" cy="40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/>
          <p:nvPr/>
        </p:nvSpPr>
        <p:spPr>
          <a:xfrm>
            <a:off x="5967211" y="1678675"/>
            <a:ext cx="4350496" cy="473124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UI Challenge: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visually appealing, functional, scalable, and maintainable user interfaces across diverse platforms and devices.​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Techniques Requirement: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advanced UI development techniques to overcome challenges and create exceptional user experiences.​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​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8" name="Google Shape;158;p2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"/>
          <p:cNvSpPr txBox="1">
            <a:spLocks noGrp="1"/>
          </p:cNvSpPr>
          <p:nvPr>
            <p:ph type="title"/>
          </p:nvPr>
        </p:nvSpPr>
        <p:spPr>
          <a:xfrm>
            <a:off x="1144506" y="457201"/>
            <a:ext cx="6743698" cy="155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Widget Usage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Bookman Old Style"/>
              <a:buNone/>
            </a:pPr>
            <a:br>
              <a:rPr lang="en-US" sz="34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34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5" name="Google Shape;165;p3"/>
          <p:cNvSpPr txBox="1">
            <a:spLocks noGrp="1"/>
          </p:cNvSpPr>
          <p:nvPr>
            <p:ph type="body" idx="1"/>
          </p:nvPr>
        </p:nvSpPr>
        <p:spPr>
          <a:xfrm>
            <a:off x="1144505" y="2277036"/>
            <a:ext cx="6743700" cy="346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Font typeface="Arial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Font typeface="Arial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3" descr="A person holding a tablet and giving a okay 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r="-4" b="-4"/>
          <a:stretch/>
        </p:blipFill>
        <p:spPr>
          <a:xfrm>
            <a:off x="8878294" y="516835"/>
            <a:ext cx="2592126" cy="2592126"/>
          </a:xfrm>
          <a:custGeom>
            <a:avLst/>
            <a:gdLst/>
            <a:ahLst/>
            <a:cxnLst/>
            <a:rect l="l" t="t" r="r" b="b"/>
            <a:pathLst>
              <a:path w="2592126" h="2592126" extrusionOk="0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67" name="Google Shape;167;p3" descr="A group of people standing in front of a glowing scree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r="-4" b="-4"/>
          <a:stretch/>
        </p:blipFill>
        <p:spPr>
          <a:xfrm>
            <a:off x="8878294" y="3383860"/>
            <a:ext cx="2592126" cy="2592126"/>
          </a:xfrm>
          <a:custGeom>
            <a:avLst/>
            <a:gdLst/>
            <a:ahLst/>
            <a:cxnLst/>
            <a:rect l="l" t="t" r="r" b="b"/>
            <a:pathLst>
              <a:path w="2592126" h="2592126" extrusionOk="0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8" name="Google Shape;168;p3"/>
          <p:cNvSpPr/>
          <p:nvPr/>
        </p:nvSpPr>
        <p:spPr>
          <a:xfrm>
            <a:off x="1253007" y="2369177"/>
            <a:ext cx="4786647" cy="740535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Harnessing the Full Potential of Built-in Widgets​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1253007" y="3431684"/>
            <a:ext cx="4786647" cy="740535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Custom Widgets for Specific Needs​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1253007" y="4429797"/>
            <a:ext cx="4786647" cy="740535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Leveraging Widget Libraries and Frameworks​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1" name="Google Shape;171;p3" descr="A blue and black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Built-in Widgets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2390294" y="1557910"/>
            <a:ext cx="7104844" cy="485104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ListView: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Displays items in a </a:t>
            </a:r>
            <a:r>
              <a:rPr lang="en-US" sz="1800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one-dimensional layout:</a:t>
            </a: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 either vertically (default) or horizontally.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Useful for lists of text, images, cards, or any content that follows a linear order.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Offers various constructors for different scenarios: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ListView.builder for dynamically generating items from a data source.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ListView.separated for adding separators between items.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ListView.custom for full control over layout and scrolling.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9" name="Google Shape;179;p4" descr="A blue and black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>
            <a:spLocks noGrp="1"/>
          </p:cNvSpPr>
          <p:nvPr>
            <p:ph type="title"/>
          </p:nvPr>
        </p:nvSpPr>
        <p:spPr>
          <a:xfrm>
            <a:off x="634404" y="21250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List view </a:t>
            </a:r>
            <a:endParaRPr/>
          </a:p>
        </p:txBody>
      </p:sp>
      <p:pic>
        <p:nvPicPr>
          <p:cNvPr id="185" name="Google Shape;185;p5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71039" y="873745"/>
            <a:ext cx="4734861" cy="568172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/>
        </p:nvSpPr>
        <p:spPr>
          <a:xfrm>
            <a:off x="5647386" y="603161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29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7" name="Google Shape;187;p5" descr="A screenshot of a phon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61605" y="727659"/>
            <a:ext cx="2906198" cy="5842714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188" name="Google Shape;188;p5" descr="A blue and black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32833" y="5872791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900"/>
              <a:buFont typeface="Arial"/>
              <a:buChar char="•"/>
            </a:pPr>
            <a:r>
              <a:rPr lang="en-US" sz="2900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 View:</a:t>
            </a:r>
            <a:endParaRPr sz="29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1376093" y="1799468"/>
            <a:ext cx="8822027" cy="4507605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 View: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Arranges items in a </a:t>
            </a:r>
            <a:r>
              <a:rPr lang="en-US" sz="1800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two-dimensional grid layout:</a:t>
            </a: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 rows and columns.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Suitable for photo galleries, product catalogs, or any visually oriented data.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Includes constructors for defining the number of items per row/column and spacing between them.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GridView.count specifies the number of items in each row or column.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GridView.builder similar to List View. builder but arranges items in a grid.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GridView.extent uses a fixed size for each item.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96" name="Google Shape;196;p6" descr="A blue and black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2833" y="5872791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Gid view </a:t>
            </a:r>
            <a:endParaRPr/>
          </a:p>
        </p:txBody>
      </p:sp>
      <p:pic>
        <p:nvPicPr>
          <p:cNvPr id="202" name="Google Shape;202;p7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16974" y="1442561"/>
            <a:ext cx="5705502" cy="468361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 txBox="1"/>
          <p:nvPr/>
        </p:nvSpPr>
        <p:spPr>
          <a:xfrm>
            <a:off x="6688428" y="667555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29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04" name="Google Shape;204;p7" descr="A black and white checkered patter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8733" y="834981"/>
            <a:ext cx="3002790" cy="5617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7" descr="A blue and black 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 Bar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1121194" y="1767225"/>
            <a:ext cx="8188816" cy="402464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Working with tabs is a common pattern in apps that follow the Material Design guidelines. 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Flutter includes a convenient way to create tab layouts as part of the material library.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This recipe creates a tabbed example using the following steps: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Create a Tab Controller.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Create the tabs.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Create content for each tab.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13" name="Google Shape;213;p8" descr="A blue and black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 txBox="1">
            <a:spLocks noGrp="1"/>
          </p:cNvSpPr>
          <p:nvPr>
            <p:ph type="title"/>
          </p:nvPr>
        </p:nvSpPr>
        <p:spPr>
          <a:xfrm>
            <a:off x="527080" y="137375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Tab bar </a:t>
            </a:r>
            <a:endParaRPr/>
          </a:p>
        </p:txBody>
      </p:sp>
      <p:pic>
        <p:nvPicPr>
          <p:cNvPr id="219" name="Google Shape;219;p9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2809" y="1217181"/>
            <a:ext cx="5000354" cy="460849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 txBox="1"/>
          <p:nvPr/>
        </p:nvSpPr>
        <p:spPr>
          <a:xfrm>
            <a:off x="6385276" y="920000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r>
              <a:rPr lang="en-US" sz="29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21" name="Google Shape;221;p9" descr="A white background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7200" y="1592470"/>
            <a:ext cx="2294297" cy="49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9" descr="A white background with black tex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5982" y="1592469"/>
            <a:ext cx="2294297" cy="49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 descr="A white background with black 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96330" y="1592469"/>
            <a:ext cx="2294297" cy="4932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9" descr="A blue and black logo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Drawer</a:t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823245" y="2011370"/>
            <a:ext cx="8639577" cy="3874394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The navigation drawer in Flutter allows users to navigate to different pages of your app. 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The navigation drawer is added using the </a:t>
            </a:r>
            <a:r>
              <a:rPr lang="en-US" sz="18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Drawer </a:t>
            </a:r>
            <a:r>
              <a:rPr lang="en-US" sz="18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widget.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It can be opened via swipe gesture or by clicking on the menu icon in the app bar.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The navigation drawer can be used as an alternate option to the TabBar widget.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313337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313337"/>
                </a:solidFill>
                <a:latin typeface="Calibri"/>
                <a:ea typeface="Calibri"/>
                <a:cs typeface="Calibri"/>
                <a:sym typeface="Calibri"/>
              </a:rPr>
              <a:t>It is recommended to use a navigation drawer when you have at least five pages to navigate.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32" name="Google Shape;232;p10" descr="A blue and black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580742" y="21250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Navigation Drawer </a:t>
            </a:r>
            <a:endParaRPr/>
          </a:p>
        </p:txBody>
      </p:sp>
      <p:pic>
        <p:nvPicPr>
          <p:cNvPr id="238" name="Google Shape;238;p11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86426" y="883197"/>
            <a:ext cx="4104908" cy="518803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 txBox="1"/>
          <p:nvPr/>
        </p:nvSpPr>
        <p:spPr>
          <a:xfrm>
            <a:off x="5518597" y="613893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40" name="Google Shape;240;p11" descr="A white background with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549" y="1081826"/>
            <a:ext cx="2659353" cy="569246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241" name="Google Shape;241;p11" descr="A screenshot of a phon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50000" y="1081827"/>
            <a:ext cx="2659354" cy="5692461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cxnSp>
        <p:nvCxnSpPr>
          <p:cNvPr id="242" name="Google Shape;242;p11"/>
          <p:cNvCxnSpPr/>
          <p:nvPr/>
        </p:nvCxnSpPr>
        <p:spPr>
          <a:xfrm>
            <a:off x="5799786" y="1533661"/>
            <a:ext cx="3114540" cy="935863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</p:cxnSp>
      <p:pic>
        <p:nvPicPr>
          <p:cNvPr id="243" name="Google Shape;243;p11" descr="A blue and black logo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 Sheet</a:t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824296" y="2267014"/>
            <a:ext cx="7940260" cy="3059043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A bottom sheet is a UI component that slides up from the bottom of the screen to display additional content or options. 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It’s commonly used to present contextual actions, settings, or supplementary information without obstructing the main content of your app. 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242424"/>
                </a:solidFill>
                <a:latin typeface="Calibri"/>
                <a:ea typeface="Calibri"/>
                <a:cs typeface="Calibri"/>
                <a:sym typeface="Calibri"/>
              </a:rPr>
              <a:t>Flutter’s Bottom sheet widget makes it easy to implement this interaction pattern.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1" name="Google Shape;251;p12" descr="A blue and black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"/>
          <p:cNvSpPr txBox="1">
            <a:spLocks noGrp="1"/>
          </p:cNvSpPr>
          <p:nvPr>
            <p:ph type="title"/>
          </p:nvPr>
        </p:nvSpPr>
        <p:spPr>
          <a:xfrm>
            <a:off x="688066" y="287628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of Bottom Sheet </a:t>
            </a:r>
            <a:endParaRPr/>
          </a:p>
        </p:txBody>
      </p:sp>
      <p:pic>
        <p:nvPicPr>
          <p:cNvPr id="257" name="Google Shape;257;p13" descr="A screen shot of a computer program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6476" y="1442561"/>
            <a:ext cx="4950806" cy="449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 txBox="1"/>
          <p:nvPr/>
        </p:nvSpPr>
        <p:spPr>
          <a:xfrm>
            <a:off x="6162541" y="452907"/>
            <a:ext cx="2743200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2900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59" name="Google Shape;259;p13" descr="A white rectangular object with purple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6902" y="1092559"/>
            <a:ext cx="2552029" cy="5477813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260" name="Google Shape;260;p13" descr="A screenshot of a phon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71973" y="1092559"/>
            <a:ext cx="2552028" cy="547781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cxnSp>
        <p:nvCxnSpPr>
          <p:cNvPr id="261" name="Google Shape;261;p13"/>
          <p:cNvCxnSpPr/>
          <p:nvPr/>
        </p:nvCxnSpPr>
        <p:spPr>
          <a:xfrm>
            <a:off x="7635025" y="4216758"/>
            <a:ext cx="1612005" cy="1547611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38100" dist="25400" dir="5400000" rotWithShape="0">
              <a:srgbClr val="000000">
                <a:alpha val="34901"/>
              </a:srgbClr>
            </a:outerShdw>
          </a:effectLst>
        </p:spPr>
      </p:cxnSp>
      <p:pic>
        <p:nvPicPr>
          <p:cNvPr id="262" name="Google Shape;262;p13" descr="A blue and black logo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Widgets</a:t>
            </a:r>
            <a:endParaRPr/>
          </a:p>
        </p:txBody>
      </p:sp>
      <p:sp>
        <p:nvSpPr>
          <p:cNvPr id="269" name="Google Shape;269;p1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>
              <a:solidFill>
                <a:srgbClr val="1F1F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78367" y="1496337"/>
            <a:ext cx="8602868" cy="180008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In Flutter, a custom widget is a user-defined component that encapsulates a specific UI element or functionality. 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They serve as the building blocks of your application, ensuring code reusability, maintainability, and a consistent design language.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678367" y="3815467"/>
            <a:ext cx="8602868" cy="248478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Essentially, you create a custom widget when: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You need a UI element that doesn't exist as a built-in widget in Flutter.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You want to reuse the same UI element with different configurations or data throughout your app.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286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F1F1F"/>
                </a:solidFill>
                <a:latin typeface="Calibri"/>
                <a:ea typeface="Calibri"/>
                <a:cs typeface="Calibri"/>
                <a:sym typeface="Calibri"/>
              </a:rPr>
              <a:t>You desire unique functionality or a customized look and feel for specific UI elements.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72" name="Google Shape;272;p14" descr="A blue and black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32833" y="5872791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"/>
          <p:cNvSpPr txBox="1">
            <a:spLocks noGrp="1"/>
          </p:cNvSpPr>
          <p:nvPr>
            <p:ph type="title"/>
          </p:nvPr>
        </p:nvSpPr>
        <p:spPr>
          <a:xfrm>
            <a:off x="761802" y="75128"/>
            <a:ext cx="4080362" cy="138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 Layouts and Responsive Design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828741"/>
            <a:ext cx="5334197" cy="3200518"/>
          </a:xfrm>
          <a:prstGeom prst="rect">
            <a:avLst/>
          </a:prstGeom>
          <a:noFill/>
          <a:ln>
            <a:noFill/>
          </a:ln>
          <a:effectLst>
            <a:reflection stA="30000" endPos="30000" dist="5000" dir="5400000" sy="-100000" algn="bl" rotWithShape="0"/>
          </a:effectLst>
        </p:spPr>
      </p:pic>
      <p:sp>
        <p:nvSpPr>
          <p:cNvPr id="280" name="Google Shape;280;p15"/>
          <p:cNvSpPr/>
          <p:nvPr/>
        </p:nvSpPr>
        <p:spPr>
          <a:xfrm>
            <a:off x="831760" y="2041837"/>
            <a:ext cx="3799268" cy="3681211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Designing Effective Layouts for Various Screen Sizes​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Mastering Layout Managers and Techniques​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Implementing Responsive Design Principles​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281" name="Google Shape;281;p15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"/>
          <p:cNvSpPr txBox="1">
            <a:spLocks noGrp="1"/>
          </p:cNvSpPr>
          <p:nvPr>
            <p:ph type="title"/>
          </p:nvPr>
        </p:nvSpPr>
        <p:spPr>
          <a:xfrm>
            <a:off x="516348" y="26616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UI Design of an Taxi-Booking Application</a:t>
            </a:r>
            <a:endParaRPr/>
          </a:p>
        </p:txBody>
      </p:sp>
      <p:pic>
        <p:nvPicPr>
          <p:cNvPr id="287" name="Google Shape;287;p16" descr="Screens screenshots of a phon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47605" y="927407"/>
            <a:ext cx="6070915" cy="5831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6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"/>
          <p:cNvSpPr txBox="1"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Animations and Motion Design</a:t>
            </a:r>
            <a:endParaRPr sz="2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 txBox="1">
            <a:spLocks noGrp="1"/>
          </p:cNvSpPr>
          <p:nvPr>
            <p:ph type="body" idx="1"/>
          </p:nvPr>
        </p:nvSpPr>
        <p:spPr>
          <a:xfrm>
            <a:off x="838200" y="2058130"/>
            <a:ext cx="4619621" cy="3843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20"/>
              <a:buNone/>
            </a:pPr>
            <a:br>
              <a:rPr lang="en-US" sz="14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120"/>
              <a:buNone/>
            </a:pPr>
            <a:br>
              <a:rPr lang="en-US" sz="14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17" descr="A person working on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3042" y="1397000"/>
            <a:ext cx="6096000" cy="4064000"/>
          </a:xfrm>
          <a:prstGeom prst="rect">
            <a:avLst/>
          </a:prstGeom>
          <a:noFill/>
          <a:ln>
            <a:noFill/>
          </a:ln>
          <a:effectLst>
            <a:reflection stA="30000" endPos="30000" dist="5000" dir="5400000" sy="-100000" algn="bl" rotWithShape="0"/>
          </a:effectLst>
        </p:spPr>
      </p:pic>
      <p:sp>
        <p:nvSpPr>
          <p:cNvPr id="297" name="Google Shape;297;p17"/>
          <p:cNvSpPr/>
          <p:nvPr/>
        </p:nvSpPr>
        <p:spPr>
          <a:xfrm>
            <a:off x="922986" y="2441619"/>
            <a:ext cx="3702676" cy="65467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Incorporating Advanced Animation Techniques 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922985" y="3482662"/>
            <a:ext cx="3702676" cy="65467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Utilizing Motion Design Principles​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922986" y="4534435"/>
            <a:ext cx="3702676" cy="65467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Employing Animation Libraries and Frameworks 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00" name="Google Shape;300;p17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>
            <a:spLocks noGrp="1"/>
          </p:cNvSpPr>
          <p:nvPr>
            <p:ph type="title"/>
          </p:nvPr>
        </p:nvSpPr>
        <p:spPr>
          <a:xfrm>
            <a:off x="666602" y="287628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Lottie file Animation</a:t>
            </a:r>
            <a:endParaRPr/>
          </a:p>
        </p:txBody>
      </p:sp>
      <p:pic>
        <p:nvPicPr>
          <p:cNvPr id="306" name="Google Shape;306;p18" descr="A screenshot of a websit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04177" y="1022675"/>
            <a:ext cx="10786055" cy="520141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pic>
        <p:nvPicPr>
          <p:cNvPr id="307" name="Google Shape;307;p18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Animations:</a:t>
            </a:r>
            <a:endParaRPr/>
          </a:p>
        </p:txBody>
      </p:sp>
      <p:pic>
        <p:nvPicPr>
          <p:cNvPr id="313" name="Google Shape;313;p19" descr="A black background with a red circle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19603" y="1712347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9" descr="A black circle with white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48780" y="171651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45005" y="2789751"/>
            <a:ext cx="2330271" cy="2319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9" descr="A black and white button with white 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56387" y="2547402"/>
            <a:ext cx="3704017" cy="2793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9" descr="An orange rectangle on a black background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6047" y="5247470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166977" y="5196827"/>
            <a:ext cx="3070806" cy="153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29203" y="3369300"/>
            <a:ext cx="1729257" cy="1739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9" descr="A yellow folder with black background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542611" y="1491132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9" descr="A blue and black logo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32833" y="5872791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 txBox="1">
            <a:spLocks noGrp="1"/>
          </p:cNvSpPr>
          <p:nvPr>
            <p:ph type="title"/>
          </p:nvPr>
        </p:nvSpPr>
        <p:spPr>
          <a:xfrm>
            <a:off x="1231647" y="142187"/>
            <a:ext cx="5323715" cy="1642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Management at Scale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Bookman Old Style"/>
              <a:buNone/>
            </a:pPr>
            <a:br>
              <a:rPr lang="en-US" sz="22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2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28" name="Google Shape;328;p20" descr="A group of people standing in front of a scree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5967" y="1359681"/>
            <a:ext cx="4170530" cy="4170530"/>
          </a:xfrm>
          <a:prstGeom prst="round2DiagRect">
            <a:avLst>
              <a:gd name="adj1" fmla="val 16667"/>
              <a:gd name="adj2" fmla="val 0"/>
            </a:avLst>
          </a:prstGeom>
          <a:noFill/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pic>
      <p:sp>
        <p:nvSpPr>
          <p:cNvPr id="329" name="Google Shape;329;p20"/>
          <p:cNvSpPr/>
          <p:nvPr/>
        </p:nvSpPr>
        <p:spPr>
          <a:xfrm>
            <a:off x="1236908" y="1947929"/>
            <a:ext cx="4389550" cy="343436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Effectively Managing UI State in Large-Scale Applications​​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​​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Utilizing State Management Libraries and Frameworks ​​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​​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 State Complexity and Performance Challenges​​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30" name="Google Shape;330;p20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"/>
          <p:cNvSpPr txBox="1">
            <a:spLocks noGrp="1"/>
          </p:cNvSpPr>
          <p:nvPr>
            <p:ph type="title"/>
          </p:nvPr>
        </p:nvSpPr>
        <p:spPr>
          <a:xfrm>
            <a:off x="5638834" y="172008"/>
            <a:ext cx="5754896" cy="166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Integrating UI with Backend Services</a:t>
            </a:r>
            <a:endParaRPr sz="2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Bookman Old Style"/>
              <a:buNone/>
            </a:pPr>
            <a:br>
              <a:rPr lang="en-US" sz="1900" dirty="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1900" dirty="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37" name="Google Shape;337;p21" descr="A person standing next to a large table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8130" y="1759591"/>
            <a:ext cx="3876165" cy="2907123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algn="tl" rotWithShape="0">
              <a:srgbClr val="000000">
                <a:alpha val="44705"/>
              </a:srgbClr>
            </a:outerShdw>
          </a:effectLst>
        </p:spPr>
      </p:pic>
      <p:sp>
        <p:nvSpPr>
          <p:cNvPr id="338" name="Google Shape;338;p21"/>
          <p:cNvSpPr/>
          <p:nvPr/>
        </p:nvSpPr>
        <p:spPr>
          <a:xfrm>
            <a:off x="5999408" y="3013118"/>
            <a:ext cx="4775915" cy="83712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Connecting UI Components with Backend Services​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999408" y="4204414"/>
            <a:ext cx="4775915" cy="83712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Implementing Data Fetching and Caching Strategies​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0" name="Google Shape;340;p21"/>
          <p:cNvSpPr/>
          <p:nvPr/>
        </p:nvSpPr>
        <p:spPr>
          <a:xfrm>
            <a:off x="5999409" y="5342047"/>
            <a:ext cx="4775915" cy="837126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Handling Network Requests and Error Scenarios Gracefully​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41" name="Google Shape;341;p21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5755598" y="1011036"/>
            <a:ext cx="5598202" cy="1402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None/>
            </a:pPr>
            <a:r>
              <a:rPr lang="en-US" sz="29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ookman Old Style"/>
              <a:buNone/>
            </a:pPr>
            <a:br>
              <a:rPr lang="en-US" sz="1800"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1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348" name="Google Shape;348;p22" descr="A white figure with a red ribbon around its ne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122" y="1315854"/>
            <a:ext cx="4365438" cy="436543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/>
          <p:nvPr/>
        </p:nvSpPr>
        <p:spPr>
          <a:xfrm>
            <a:off x="5559380" y="2229655"/>
            <a:ext cx="3584619" cy="3724140"/>
          </a:xfrm>
          <a:prstGeom prst="round2DiagRect">
            <a:avLst>
              <a:gd name="adj1" fmla="val 16667"/>
              <a:gd name="adj2" fmla="val 0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Recap of Key Takeaways​​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​​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Emphasis on Mastering Advanced UI Development Techniques​​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​​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​​</a:t>
            </a:r>
            <a:endParaRPr/>
          </a:p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Encouragement for Continuous Learning and Experimentation​​</a:t>
            </a: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50" name="Google Shape;350;p22" descr="A blue and black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917" y="6009268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1975</Words>
  <Application>Microsoft Office PowerPoint</Application>
  <PresentationFormat>Widescreen</PresentationFormat>
  <Paragraphs>246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Bookman Old Style</vt:lpstr>
      <vt:lpstr>Calibri</vt:lpstr>
      <vt:lpstr>Noto Sans Symbols</vt:lpstr>
      <vt:lpstr>Trebuchet MS</vt:lpstr>
      <vt:lpstr>Facet</vt:lpstr>
      <vt:lpstr>     Advanced UI Development Techniques: Mastering the Art of Engaging and Scalable Interfaces  </vt:lpstr>
      <vt:lpstr> Introduction  </vt:lpstr>
      <vt:lpstr>Advanced Widget Usage  </vt:lpstr>
      <vt:lpstr>Built-in Widgets</vt:lpstr>
      <vt:lpstr>Example of List view </vt:lpstr>
      <vt:lpstr>Grid View: </vt:lpstr>
      <vt:lpstr>Example of Gid view </vt:lpstr>
      <vt:lpstr>Tab Bar</vt:lpstr>
      <vt:lpstr>Example of Tab bar </vt:lpstr>
      <vt:lpstr>Navigation Drawer</vt:lpstr>
      <vt:lpstr>Example of Navigation Drawer </vt:lpstr>
      <vt:lpstr>Bottom Sheet</vt:lpstr>
      <vt:lpstr>Example of Bottom Sheet </vt:lpstr>
      <vt:lpstr>Custom Widgets</vt:lpstr>
      <vt:lpstr>Complex Layouts and Responsive Design</vt:lpstr>
      <vt:lpstr>Example: UI Design of an Taxi-Booking Application</vt:lpstr>
      <vt:lpstr>Advanced Animations and Motion Design</vt:lpstr>
      <vt:lpstr>Example: Lottie file Animation</vt:lpstr>
      <vt:lpstr>Animations:</vt:lpstr>
      <vt:lpstr>State Management at Scale  </vt:lpstr>
      <vt:lpstr>Integrating UI with Backend Services  </vt:lpstr>
      <vt:lpstr>Conclusion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Athulya P</cp:lastModifiedBy>
  <cp:revision>2</cp:revision>
  <dcterms:created xsi:type="dcterms:W3CDTF">2013-07-15T20:26:40Z</dcterms:created>
  <dcterms:modified xsi:type="dcterms:W3CDTF">2025-10-22T09:15:47Z</dcterms:modified>
</cp:coreProperties>
</file>