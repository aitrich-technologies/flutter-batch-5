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Gill Sans" panose="020B0604020202020204" charset="0"/>
      <p:regular r:id="rId11"/>
      <p:bold r:id="rId12"/>
    </p:embeddedFont>
    <p:embeddedFont>
      <p:font typeface="Microsoft YaHei" panose="020B0503020204020204" pitchFamily="34" charset="-122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176cd291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8" name="Google Shape;58;g30176cd2910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Hello everyone, welcome to our session on "Exception handling Fundamentals and Advanced Techniques”, In this presentation we will cover Introduction and Implementation of Exceptions, Fundamentals- Terminology and Types, Handling Exceptions, Advanced Techniques- Nested Blocks and Chained Exceptions,Advanced Techniques- Multithreading, Realworld Examples and Pitfalls and Best practices and Guidelines. </a:t>
            </a:r>
            <a:endParaRPr/>
          </a:p>
        </p:txBody>
      </p:sp>
      <p:sp>
        <p:nvSpPr>
          <p:cNvPr id="59" name="Google Shape;59;g30176cd2910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" sz="1200"/>
              <a:t>1</a:t>
            </a:fld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176cd2910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What are exceptions?: We'll begin by defining exceptions and their significance in software development.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Importance of exception handling: Discussing why proper exception handling is essential for robust and reliable software.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Benefits of proper exception handling: Exploring the advantages of implementing effective exception handling practices.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30176cd291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176cd291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0176cd2910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176cd2910_0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30176cd291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176cd2910_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g30176cd2910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176cd2910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Exception handling in multithreaded environments: Addressing the challenges and considerations for handling exceptions in concurrent and multithreaded applications.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Thread safety considerations: Discussing the importance of ensuring thread safety and synchronization in exception handling mechanisms.</a:t>
            </a:r>
            <a:endParaRPr/>
          </a:p>
        </p:txBody>
      </p:sp>
      <p:sp>
        <p:nvSpPr>
          <p:cNvPr id="153" name="Google Shape;153;g30176cd2910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176cd2910_0_2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Principles for robust exception handling: Outlining best practices and principles for designing resilient and maintainable exception handling mechanisms.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Designing for maintainability and readability: Emphasizing the importance of clear, concise, and maintainable exception handling code.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Choosing the right approach: Providing guidelines for selecting the appropriate exception handling approach based on the specific requirements of the application.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30176cd2910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0176cd2910_0_3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g30176cd2910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F44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4"/>
          <p:cNvGrpSpPr/>
          <p:nvPr/>
        </p:nvGrpSpPr>
        <p:grpSpPr>
          <a:xfrm>
            <a:off x="0" y="3481443"/>
            <a:ext cx="9144000" cy="1662370"/>
            <a:chOff x="0" y="1955700"/>
            <a:chExt cx="12192000" cy="49023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3962400"/>
              <a:ext cx="12192000" cy="2895600"/>
            </a:xfrm>
            <a:prstGeom prst="rtTriangle">
              <a:avLst/>
            </a:prstGeom>
            <a:solidFill>
              <a:srgbClr val="07AFC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 rot="-5400000">
              <a:off x="3644850" y="-1689150"/>
              <a:ext cx="4902300" cy="12192000"/>
            </a:xfrm>
            <a:prstGeom prst="triangle">
              <a:avLst>
                <a:gd name="adj" fmla="val 58808"/>
              </a:avLst>
            </a:prstGeom>
            <a:solidFill>
              <a:srgbClr val="0C4E7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31" y="3548122"/>
            <a:ext cx="1187023" cy="1400218"/>
            <a:chOff x="-1582697" y="2594940"/>
            <a:chExt cx="1582697" cy="1866708"/>
          </a:xfrm>
        </p:grpSpPr>
        <p:sp>
          <p:nvSpPr>
            <p:cNvPr id="65" name="Google Shape;65;p14"/>
            <p:cNvSpPr/>
            <p:nvPr/>
          </p:nvSpPr>
          <p:spPr>
            <a:xfrm>
              <a:off x="-1582697" y="3053922"/>
              <a:ext cx="791348" cy="1407726"/>
            </a:xfrm>
            <a:custGeom>
              <a:avLst/>
              <a:gdLst/>
              <a:ahLst/>
              <a:cxnLst/>
              <a:rect l="l" t="t" r="r" b="b"/>
              <a:pathLst>
                <a:path w="791348" h="1407726" extrusionOk="0">
                  <a:moveTo>
                    <a:pt x="0" y="0"/>
                  </a:moveTo>
                  <a:lnTo>
                    <a:pt x="791348" y="0"/>
                  </a:lnTo>
                  <a:lnTo>
                    <a:pt x="791348" y="1407726"/>
                  </a:lnTo>
                  <a:lnTo>
                    <a:pt x="0" y="1026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" name="Google Shape;66;p14"/>
            <p:cNvGrpSpPr/>
            <p:nvPr/>
          </p:nvGrpSpPr>
          <p:grpSpPr>
            <a:xfrm>
              <a:off x="-1582697" y="2594940"/>
              <a:ext cx="1582697" cy="918000"/>
              <a:chOff x="-131141" y="3340292"/>
              <a:chExt cx="1582697" cy="918000"/>
            </a:xfrm>
          </p:grpSpPr>
          <p:sp>
            <p:nvSpPr>
              <p:cNvPr id="67" name="Google Shape;67;p14"/>
              <p:cNvSpPr/>
              <p:nvPr/>
            </p:nvSpPr>
            <p:spPr>
              <a:xfrm rot="5400000">
                <a:off x="596856" y="3403592"/>
                <a:ext cx="918000" cy="791400"/>
              </a:xfrm>
              <a:prstGeom prst="triangle">
                <a:avLst>
                  <a:gd name="adj" fmla="val 50000"/>
                </a:avLst>
              </a:prstGeom>
              <a:solidFill>
                <a:srgbClr val="E78B1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 rot="-5400000" flipH="1">
                <a:off x="-194441" y="3403592"/>
                <a:ext cx="918000" cy="791400"/>
              </a:xfrm>
              <a:prstGeom prst="triangle">
                <a:avLst>
                  <a:gd name="adj" fmla="val 50000"/>
                </a:avLst>
              </a:prstGeom>
              <a:solidFill>
                <a:srgbClr val="90C1A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" name="Google Shape;69;p14"/>
          <p:cNvGrpSpPr/>
          <p:nvPr/>
        </p:nvGrpSpPr>
        <p:grpSpPr>
          <a:xfrm rot="-273730">
            <a:off x="8151944" y="3113331"/>
            <a:ext cx="826331" cy="826198"/>
            <a:chOff x="3830700" y="698500"/>
            <a:chExt cx="1635000" cy="1634736"/>
          </a:xfrm>
        </p:grpSpPr>
        <p:sp>
          <p:nvSpPr>
            <p:cNvPr id="70" name="Google Shape;70;p14"/>
            <p:cNvSpPr/>
            <p:nvPr/>
          </p:nvSpPr>
          <p:spPr>
            <a:xfrm>
              <a:off x="4648200" y="698500"/>
              <a:ext cx="817500" cy="817500"/>
            </a:xfrm>
            <a:prstGeom prst="rtTriangle">
              <a:avLst/>
            </a:prstGeom>
            <a:solidFill>
              <a:srgbClr val="90C1A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 flipH="1">
              <a:off x="3830700" y="698500"/>
              <a:ext cx="817500" cy="817500"/>
            </a:xfrm>
            <a:prstGeom prst="rtTriangle">
              <a:avLst/>
            </a:prstGeom>
            <a:solidFill>
              <a:srgbClr val="1FA77D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" name="Google Shape;72;p14"/>
            <p:cNvGrpSpPr/>
            <p:nvPr/>
          </p:nvGrpSpPr>
          <p:grpSpPr>
            <a:xfrm>
              <a:off x="3830700" y="1515736"/>
              <a:ext cx="1635000" cy="817500"/>
              <a:chOff x="3895963" y="1638613"/>
              <a:chExt cx="1635000" cy="817500"/>
            </a:xfrm>
          </p:grpSpPr>
          <p:sp>
            <p:nvSpPr>
              <p:cNvPr id="73" name="Google Shape;73;p14"/>
              <p:cNvSpPr/>
              <p:nvPr/>
            </p:nvSpPr>
            <p:spPr>
              <a:xfrm rot="10800000" flipH="1">
                <a:off x="4713463" y="1638613"/>
                <a:ext cx="817500" cy="817500"/>
              </a:xfrm>
              <a:prstGeom prst="rtTriangle">
                <a:avLst/>
              </a:prstGeom>
              <a:solidFill>
                <a:srgbClr val="1B98B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 rot="10800000">
                <a:off x="3895963" y="1638613"/>
                <a:ext cx="817500" cy="817500"/>
              </a:xfrm>
              <a:prstGeom prst="rtTriangle">
                <a:avLst/>
              </a:prstGeom>
              <a:solidFill>
                <a:srgbClr val="6CDAE9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" name="Google Shape;75;p14"/>
          <p:cNvGrpSpPr/>
          <p:nvPr/>
        </p:nvGrpSpPr>
        <p:grpSpPr>
          <a:xfrm>
            <a:off x="2733675" y="1196697"/>
            <a:ext cx="3690938" cy="1847982"/>
            <a:chOff x="3892550" y="2204410"/>
            <a:chExt cx="4921250" cy="2463319"/>
          </a:xfrm>
        </p:grpSpPr>
        <p:cxnSp>
          <p:nvCxnSpPr>
            <p:cNvPr id="76" name="Google Shape;76;p14"/>
            <p:cNvCxnSpPr/>
            <p:nvPr/>
          </p:nvCxnSpPr>
          <p:spPr>
            <a:xfrm>
              <a:off x="3892550" y="2204410"/>
              <a:ext cx="1755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" name="Google Shape;77;p14"/>
            <p:cNvCxnSpPr/>
            <p:nvPr/>
          </p:nvCxnSpPr>
          <p:spPr>
            <a:xfrm>
              <a:off x="7277101" y="2212680"/>
              <a:ext cx="1536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" name="Google Shape;78;p14"/>
            <p:cNvCxnSpPr/>
            <p:nvPr/>
          </p:nvCxnSpPr>
          <p:spPr>
            <a:xfrm>
              <a:off x="3892550" y="2212680"/>
              <a:ext cx="0" cy="2454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" name="Google Shape;79;p14"/>
            <p:cNvCxnSpPr/>
            <p:nvPr/>
          </p:nvCxnSpPr>
          <p:spPr>
            <a:xfrm>
              <a:off x="8813800" y="2212680"/>
              <a:ext cx="0" cy="2454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" name="Google Shape;80;p14"/>
            <p:cNvCxnSpPr/>
            <p:nvPr/>
          </p:nvCxnSpPr>
          <p:spPr>
            <a:xfrm>
              <a:off x="3892550" y="4667729"/>
              <a:ext cx="4921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" name="Google Shape;81;p14"/>
          <p:cNvSpPr txBox="1"/>
          <p:nvPr/>
        </p:nvSpPr>
        <p:spPr>
          <a:xfrm>
            <a:off x="2843213" y="2080260"/>
            <a:ext cx="34725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icrosoft YaHei"/>
              <a:buNone/>
            </a:pPr>
            <a:r>
              <a:rPr lang="en" sz="2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&amp;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icrosoft YaHei"/>
              <a:buNone/>
            </a:pPr>
            <a:r>
              <a:rPr lang="en" sz="21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Techniques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2891790" y="1337310"/>
            <a:ext cx="3374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B1C4"/>
              </a:buClr>
              <a:buSzPts val="2400"/>
              <a:buFont typeface="Microsoft YaHei"/>
              <a:buNone/>
            </a:pPr>
            <a:r>
              <a:rPr lang="en" sz="2400" b="1" i="0" u="none" strike="noStrike" cap="none">
                <a:solidFill>
                  <a:srgbClr val="0DB1C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Exception Handling Fundamentals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14"/>
          <p:cNvGrpSpPr/>
          <p:nvPr/>
        </p:nvGrpSpPr>
        <p:grpSpPr>
          <a:xfrm rot="5400000">
            <a:off x="4227164" y="420281"/>
            <a:ext cx="980346" cy="1013373"/>
            <a:chOff x="3830700" y="698500"/>
            <a:chExt cx="1635000" cy="1634736"/>
          </a:xfrm>
        </p:grpSpPr>
        <p:sp>
          <p:nvSpPr>
            <p:cNvPr id="84" name="Google Shape;84;p14"/>
            <p:cNvSpPr/>
            <p:nvPr/>
          </p:nvSpPr>
          <p:spPr>
            <a:xfrm>
              <a:off x="4648200" y="698500"/>
              <a:ext cx="817500" cy="817500"/>
            </a:xfrm>
            <a:prstGeom prst="rtTriangle">
              <a:avLst/>
            </a:prstGeom>
            <a:solidFill>
              <a:srgbClr val="90C1A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 flipH="1">
              <a:off x="3830700" y="698500"/>
              <a:ext cx="817500" cy="817500"/>
            </a:xfrm>
            <a:prstGeom prst="rtTriangle">
              <a:avLst/>
            </a:prstGeom>
            <a:solidFill>
              <a:srgbClr val="1FA77D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" name="Google Shape;86;p14"/>
            <p:cNvGrpSpPr/>
            <p:nvPr/>
          </p:nvGrpSpPr>
          <p:grpSpPr>
            <a:xfrm>
              <a:off x="3830700" y="1515736"/>
              <a:ext cx="1635000" cy="817500"/>
              <a:chOff x="3895963" y="1638613"/>
              <a:chExt cx="1635000" cy="817500"/>
            </a:xfrm>
          </p:grpSpPr>
          <p:sp>
            <p:nvSpPr>
              <p:cNvPr id="87" name="Google Shape;87;p14"/>
              <p:cNvSpPr/>
              <p:nvPr/>
            </p:nvSpPr>
            <p:spPr>
              <a:xfrm rot="10800000" flipH="1">
                <a:off x="4713463" y="1638613"/>
                <a:ext cx="817500" cy="817500"/>
              </a:xfrm>
              <a:prstGeom prst="rtTriangle">
                <a:avLst/>
              </a:prstGeom>
              <a:solidFill>
                <a:srgbClr val="1B98B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 rot="10800000">
                <a:off x="3895963" y="1638613"/>
                <a:ext cx="817500" cy="817500"/>
              </a:xfrm>
              <a:prstGeom prst="rtTriangle">
                <a:avLst/>
              </a:prstGeom>
              <a:solidFill>
                <a:srgbClr val="6CDAE9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0483" y="-125775"/>
            <a:ext cx="1013456" cy="76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0" y="2712244"/>
            <a:ext cx="9144000" cy="2431500"/>
          </a:xfrm>
          <a:prstGeom prst="rect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080105" y="3145960"/>
            <a:ext cx="3966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1058951" y="69725"/>
            <a:ext cx="44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Introduction &amp; Importance</a:t>
            </a:r>
            <a:endParaRPr sz="24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97" name="Google Shape;97;p15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397" y="605872"/>
            <a:ext cx="798476" cy="763398"/>
          </a:xfrm>
          <a:prstGeom prst="rect">
            <a:avLst/>
          </a:prstGeom>
          <a:noFill/>
          <a:ln>
            <a:noFill/>
          </a:ln>
          <a:effectLst>
            <a:outerShdw blurRad="76200" dist="12700" dir="2700000" sy="-23000" kx="-800311" algn="bl" rotWithShape="0">
              <a:srgbClr val="000000">
                <a:alpha val="20000"/>
              </a:srgbClr>
            </a:outerShdw>
          </a:effectLst>
        </p:spPr>
      </p:pic>
      <p:sp>
        <p:nvSpPr>
          <p:cNvPr id="98" name="Google Shape;98;p15"/>
          <p:cNvSpPr/>
          <p:nvPr/>
        </p:nvSpPr>
        <p:spPr>
          <a:xfrm>
            <a:off x="955872" y="858683"/>
            <a:ext cx="4341300" cy="1287300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/>
              <a:buNone/>
            </a:pPr>
            <a:r>
              <a:rPr lang="en" sz="1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are exceptions?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Anomalous conditions that disrupt program flow.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 be caused by various factors (e.g., user input, resource errors, network issues).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2623872" y="2248449"/>
            <a:ext cx="4341300" cy="1225500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icrosoft YaHei"/>
              <a:buNone/>
            </a:pPr>
            <a:r>
              <a:rPr lang="en" sz="1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Importance of exception handling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Ensures program stability and prevents crashes.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Allows for graceful handling of errors.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Improves application robustness and user experience.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278797" y="3630709"/>
            <a:ext cx="4341300" cy="1349700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icrosoft YaHei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Benefits of proper exception handling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Increased code quality and maintainability.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Easier debugging and troubleshooting.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Improved error reporting and logging.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Provides a more predictable and reliable program execution.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0483" y="-125775"/>
            <a:ext cx="1013456" cy="76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0" y="0"/>
            <a:ext cx="9143999" cy="51435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DB1C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 rot="5400000">
            <a:off x="-112" y="150"/>
            <a:ext cx="2129100" cy="212880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3190602" y="150950"/>
            <a:ext cx="1952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icrosoft YaHei"/>
              <a:buNone/>
            </a:pPr>
            <a:r>
              <a:rPr lang="en" sz="27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Exception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0483" y="-125775"/>
            <a:ext cx="1013456" cy="7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 rotWithShape="1">
          <a:blip r:embed="rId4">
            <a:alphaModFix/>
          </a:blip>
          <a:srcRect t="773"/>
          <a:stretch/>
        </p:blipFill>
        <p:spPr>
          <a:xfrm>
            <a:off x="482625" y="681784"/>
            <a:ext cx="2813550" cy="425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3666875" y="703725"/>
            <a:ext cx="5388300" cy="4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We Programmed a execution to divide a variable x with y, but the user given is “ x as  4 and y as 0 ”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ordinary arithmetic, the expression has no meaning, as there is no number which, when multiplied by 0, gives a (assuming a ≠ 0), and so division by zero is undefined.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it will be a problem during execution.which automatically terminate the program.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for those problems that rise during executions are called exception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solving that is exception handling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0" y="0"/>
            <a:ext cx="9143999" cy="5297805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CAF7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 rot="5400000">
            <a:off x="142999" y="-143100"/>
            <a:ext cx="1745700" cy="203190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2607549" y="407227"/>
            <a:ext cx="37572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icrosoft YaHei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Handling Exceptions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0483" y="-125775"/>
            <a:ext cx="1013456" cy="76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238625" y="1011925"/>
            <a:ext cx="4712400" cy="3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try,</a:t>
            </a:r>
            <a:r>
              <a:rPr lang="en" sz="1800">
                <a:solidFill>
                  <a:schemeClr val="dk1"/>
                </a:solidFill>
              </a:rPr>
              <a:t> try block will carry the statement that has the chance to get an exception.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on,</a:t>
            </a:r>
            <a:r>
              <a:rPr lang="en" sz="1800">
                <a:solidFill>
                  <a:schemeClr val="dk1"/>
                </a:solidFill>
              </a:rPr>
              <a:t> on block is set to know the specific exception and apply certain statements.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catch,</a:t>
            </a:r>
            <a:r>
              <a:rPr lang="en" sz="1800">
                <a:solidFill>
                  <a:schemeClr val="dk1"/>
                </a:solidFill>
              </a:rPr>
              <a:t> catch block is set when the program doesn't know what exception occured (because no on block initiated), but the program must not break.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finally, </a:t>
            </a:r>
            <a:r>
              <a:rPr lang="en" sz="1800">
                <a:solidFill>
                  <a:schemeClr val="dk1"/>
                </a:solidFill>
              </a:rPr>
              <a:t>finally block is the only block which will execute weather the exception is there or not.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800" y="1649375"/>
            <a:ext cx="3388901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160475"/>
            <a:ext cx="9143999" cy="51435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CAF7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 rot="5400000">
            <a:off x="-50034" y="50100"/>
            <a:ext cx="4473300" cy="4373100"/>
          </a:xfrm>
          <a:prstGeom prst="rtTriangle">
            <a:avLst/>
          </a:prstGeom>
          <a:solidFill>
            <a:srgbClr val="0DB1C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18"/>
          <p:cNvGrpSpPr/>
          <p:nvPr/>
        </p:nvGrpSpPr>
        <p:grpSpPr>
          <a:xfrm>
            <a:off x="8324845" y="96497"/>
            <a:ext cx="604822" cy="252456"/>
            <a:chOff x="603250" y="1054101"/>
            <a:chExt cx="1951038" cy="812800"/>
          </a:xfrm>
        </p:grpSpPr>
        <p:sp>
          <p:nvSpPr>
            <p:cNvPr id="129" name="Google Shape;129;p18"/>
            <p:cNvSpPr/>
            <p:nvPr/>
          </p:nvSpPr>
          <p:spPr>
            <a:xfrm>
              <a:off x="2365375" y="1431926"/>
              <a:ext cx="188913" cy="407988"/>
            </a:xfrm>
            <a:custGeom>
              <a:avLst/>
              <a:gdLst/>
              <a:ahLst/>
              <a:cxnLst/>
              <a:rect l="l" t="t" r="r" b="b"/>
              <a:pathLst>
                <a:path w="210" h="453" extrusionOk="0">
                  <a:moveTo>
                    <a:pt x="48" y="208"/>
                  </a:moveTo>
                  <a:cubicBezTo>
                    <a:pt x="46" y="208"/>
                    <a:pt x="46" y="208"/>
                    <a:pt x="46" y="208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24" y="70"/>
                    <a:pt x="109" y="0"/>
                    <a:pt x="210" y="0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125" y="57"/>
                    <a:pt x="56" y="123"/>
                    <a:pt x="48" y="2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2466975" y="1135063"/>
              <a:ext cx="71438" cy="231775"/>
            </a:xfrm>
            <a:custGeom>
              <a:avLst/>
              <a:gdLst/>
              <a:ahLst/>
              <a:cxnLst/>
              <a:rect l="l" t="t" r="r" b="b"/>
              <a:pathLst>
                <a:path w="79" h="258" extrusionOk="0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4" y="216"/>
                    <a:pt x="48" y="240"/>
                    <a:pt x="79" y="240"/>
                  </a:cubicBezTo>
                  <a:cubicBezTo>
                    <a:pt x="79" y="258"/>
                    <a:pt x="79" y="258"/>
                    <a:pt x="79" y="258"/>
                  </a:cubicBezTo>
                  <a:cubicBezTo>
                    <a:pt x="78" y="258"/>
                    <a:pt x="77" y="258"/>
                    <a:pt x="76" y="258"/>
                  </a:cubicBezTo>
                  <a:cubicBezTo>
                    <a:pt x="35" y="258"/>
                    <a:pt x="1" y="226"/>
                    <a:pt x="0" y="1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2332038" y="1135063"/>
              <a:ext cx="69850" cy="231775"/>
            </a:xfrm>
            <a:custGeom>
              <a:avLst/>
              <a:gdLst/>
              <a:ahLst/>
              <a:cxnLst/>
              <a:rect l="l" t="t" r="r" b="b"/>
              <a:pathLst>
                <a:path w="79" h="258" extrusionOk="0">
                  <a:moveTo>
                    <a:pt x="79" y="188"/>
                  </a:moveTo>
                  <a:cubicBezTo>
                    <a:pt x="79" y="188"/>
                    <a:pt x="79" y="188"/>
                    <a:pt x="79" y="188"/>
                  </a:cubicBezTo>
                  <a:cubicBezTo>
                    <a:pt x="76" y="227"/>
                    <a:pt x="44" y="258"/>
                    <a:pt x="3" y="258"/>
                  </a:cubicBezTo>
                  <a:cubicBezTo>
                    <a:pt x="2" y="258"/>
                    <a:pt x="1" y="258"/>
                    <a:pt x="0" y="258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0" y="240"/>
                    <a:pt x="55" y="216"/>
                    <a:pt x="57" y="186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6"/>
                    <a:pt x="79" y="186"/>
                    <a:pt x="79" y="186"/>
                  </a:cubicBezTo>
                  <a:lnTo>
                    <a:pt x="79" y="1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1925638" y="1417638"/>
              <a:ext cx="430213" cy="449263"/>
            </a:xfrm>
            <a:custGeom>
              <a:avLst/>
              <a:gdLst/>
              <a:ahLst/>
              <a:cxnLst/>
              <a:rect l="l" t="t" r="r" b="b"/>
              <a:pathLst>
                <a:path w="478" h="498" extrusionOk="0">
                  <a:moveTo>
                    <a:pt x="463" y="211"/>
                  </a:moveTo>
                  <a:cubicBezTo>
                    <a:pt x="409" y="220"/>
                    <a:pt x="409" y="220"/>
                    <a:pt x="409" y="220"/>
                  </a:cubicBezTo>
                  <a:cubicBezTo>
                    <a:pt x="421" y="286"/>
                    <a:pt x="392" y="356"/>
                    <a:pt x="330" y="391"/>
                  </a:cubicBezTo>
                  <a:cubicBezTo>
                    <a:pt x="252" y="436"/>
                    <a:pt x="153" y="410"/>
                    <a:pt x="108" y="332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38" y="141"/>
                    <a:pt x="438" y="141"/>
                    <a:pt x="438" y="141"/>
                  </a:cubicBezTo>
                  <a:cubicBezTo>
                    <a:pt x="437" y="141"/>
                    <a:pt x="437" y="140"/>
                    <a:pt x="437" y="140"/>
                  </a:cubicBezTo>
                  <a:cubicBezTo>
                    <a:pt x="377" y="35"/>
                    <a:pt x="244" y="0"/>
                    <a:pt x="140" y="60"/>
                  </a:cubicBezTo>
                  <a:cubicBezTo>
                    <a:pt x="35" y="120"/>
                    <a:pt x="0" y="253"/>
                    <a:pt x="60" y="358"/>
                  </a:cubicBezTo>
                  <a:cubicBezTo>
                    <a:pt x="120" y="462"/>
                    <a:pt x="253" y="498"/>
                    <a:pt x="357" y="437"/>
                  </a:cubicBezTo>
                  <a:cubicBezTo>
                    <a:pt x="439" y="390"/>
                    <a:pt x="478" y="299"/>
                    <a:pt x="463" y="211"/>
                  </a:cubicBezTo>
                  <a:close/>
                  <a:moveTo>
                    <a:pt x="87" y="274"/>
                  </a:moveTo>
                  <a:cubicBezTo>
                    <a:pt x="78" y="209"/>
                    <a:pt x="107" y="142"/>
                    <a:pt x="167" y="108"/>
                  </a:cubicBezTo>
                  <a:cubicBezTo>
                    <a:pt x="227" y="73"/>
                    <a:pt x="299" y="81"/>
                    <a:pt x="350" y="122"/>
                  </a:cubicBezTo>
                  <a:lnTo>
                    <a:pt x="87" y="2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2073275" y="1250951"/>
              <a:ext cx="225425" cy="115888"/>
            </a:xfrm>
            <a:custGeom>
              <a:avLst/>
              <a:gdLst/>
              <a:ahLst/>
              <a:cxnLst/>
              <a:rect l="l" t="t" r="r" b="b"/>
              <a:pathLst>
                <a:path w="251" h="128" extrusionOk="0">
                  <a:moveTo>
                    <a:pt x="172" y="58"/>
                  </a:moveTo>
                  <a:cubicBezTo>
                    <a:pt x="172" y="58"/>
                    <a:pt x="172" y="58"/>
                    <a:pt x="172" y="58"/>
                  </a:cubicBezTo>
                  <a:cubicBezTo>
                    <a:pt x="172" y="56"/>
                    <a:pt x="172" y="56"/>
                    <a:pt x="172" y="56"/>
                  </a:cubicBezTo>
                  <a:cubicBezTo>
                    <a:pt x="172" y="56"/>
                    <a:pt x="172" y="56"/>
                    <a:pt x="172" y="55"/>
                  </a:cubicBezTo>
                  <a:cubicBezTo>
                    <a:pt x="172" y="55"/>
                    <a:pt x="172" y="55"/>
                    <a:pt x="172" y="55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6" y="97"/>
                    <a:pt x="43" y="128"/>
                    <a:pt x="3" y="128"/>
                  </a:cubicBezTo>
                  <a:cubicBezTo>
                    <a:pt x="2" y="128"/>
                    <a:pt x="1" y="128"/>
                    <a:pt x="0" y="12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0" y="110"/>
                    <a:pt x="55" y="86"/>
                    <a:pt x="57" y="5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6" y="86"/>
                    <a:pt x="221" y="110"/>
                    <a:pt x="251" y="110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0" y="128"/>
                    <a:pt x="249" y="128"/>
                    <a:pt x="248" y="128"/>
                  </a:cubicBezTo>
                  <a:cubicBezTo>
                    <a:pt x="208" y="128"/>
                    <a:pt x="175" y="97"/>
                    <a:pt x="172" y="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2079625" y="1212851"/>
              <a:ext cx="212725" cy="31750"/>
            </a:xfrm>
            <a:custGeom>
              <a:avLst/>
              <a:gdLst/>
              <a:ahLst/>
              <a:cxnLst/>
              <a:rect l="l" t="t" r="r" b="b"/>
              <a:pathLst>
                <a:path w="134" h="20" extrusionOk="0">
                  <a:moveTo>
                    <a:pt x="122" y="12"/>
                  </a:moveTo>
                  <a:lnTo>
                    <a:pt x="12" y="12"/>
                  </a:lnTo>
                  <a:lnTo>
                    <a:pt x="12" y="20"/>
                  </a:lnTo>
                  <a:lnTo>
                    <a:pt x="0" y="20"/>
                  </a:lnTo>
                  <a:lnTo>
                    <a:pt x="0" y="1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34" y="12"/>
                  </a:lnTo>
                  <a:lnTo>
                    <a:pt x="134" y="20"/>
                  </a:lnTo>
                  <a:lnTo>
                    <a:pt x="122" y="20"/>
                  </a:lnTo>
                  <a:lnTo>
                    <a:pt x="122" y="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2085975" y="1109663"/>
              <a:ext cx="200025" cy="90488"/>
            </a:xfrm>
            <a:custGeom>
              <a:avLst/>
              <a:gdLst/>
              <a:ahLst/>
              <a:cxnLst/>
              <a:rect l="l" t="t" r="r" b="b"/>
              <a:pathLst>
                <a:path w="126" h="57" extrusionOk="0">
                  <a:moveTo>
                    <a:pt x="69" y="45"/>
                  </a:moveTo>
                  <a:lnTo>
                    <a:pt x="106" y="45"/>
                  </a:lnTo>
                  <a:lnTo>
                    <a:pt x="106" y="57"/>
                  </a:lnTo>
                  <a:lnTo>
                    <a:pt x="21" y="57"/>
                  </a:lnTo>
                  <a:lnTo>
                    <a:pt x="21" y="45"/>
                  </a:lnTo>
                  <a:lnTo>
                    <a:pt x="57" y="45"/>
                  </a:lnTo>
                  <a:lnTo>
                    <a:pt x="57" y="32"/>
                  </a:lnTo>
                  <a:lnTo>
                    <a:pt x="0" y="32"/>
                  </a:lnTo>
                  <a:lnTo>
                    <a:pt x="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69" y="0"/>
                  </a:lnTo>
                  <a:lnTo>
                    <a:pt x="69" y="20"/>
                  </a:lnTo>
                  <a:lnTo>
                    <a:pt x="126" y="20"/>
                  </a:lnTo>
                  <a:lnTo>
                    <a:pt x="126" y="32"/>
                  </a:lnTo>
                  <a:lnTo>
                    <a:pt x="69" y="32"/>
                  </a:lnTo>
                  <a:lnTo>
                    <a:pt x="69" y="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1892300" y="1219201"/>
              <a:ext cx="142875" cy="149225"/>
            </a:xfrm>
            <a:custGeom>
              <a:avLst/>
              <a:gdLst/>
              <a:ahLst/>
              <a:cxnLst/>
              <a:rect l="l" t="t" r="r" b="b"/>
              <a:pathLst>
                <a:path w="90" h="94" extrusionOk="0">
                  <a:moveTo>
                    <a:pt x="12" y="94"/>
                  </a:moveTo>
                  <a:lnTo>
                    <a:pt x="0" y="94"/>
                  </a:lnTo>
                  <a:lnTo>
                    <a:pt x="0" y="82"/>
                  </a:lnTo>
                  <a:lnTo>
                    <a:pt x="0" y="8"/>
                  </a:lnTo>
                  <a:lnTo>
                    <a:pt x="11" y="8"/>
                  </a:lnTo>
                  <a:lnTo>
                    <a:pt x="25" y="0"/>
                  </a:lnTo>
                  <a:lnTo>
                    <a:pt x="31" y="11"/>
                  </a:lnTo>
                  <a:lnTo>
                    <a:pt x="12" y="22"/>
                  </a:lnTo>
                  <a:lnTo>
                    <a:pt x="12" y="45"/>
                  </a:lnTo>
                  <a:lnTo>
                    <a:pt x="37" y="45"/>
                  </a:lnTo>
                  <a:lnTo>
                    <a:pt x="37" y="57"/>
                  </a:lnTo>
                  <a:lnTo>
                    <a:pt x="12" y="57"/>
                  </a:lnTo>
                  <a:lnTo>
                    <a:pt x="12" y="82"/>
                  </a:lnTo>
                  <a:lnTo>
                    <a:pt x="77" y="82"/>
                  </a:lnTo>
                  <a:lnTo>
                    <a:pt x="77" y="57"/>
                  </a:lnTo>
                  <a:lnTo>
                    <a:pt x="53" y="57"/>
                  </a:lnTo>
                  <a:lnTo>
                    <a:pt x="53" y="45"/>
                  </a:lnTo>
                  <a:lnTo>
                    <a:pt x="77" y="45"/>
                  </a:lnTo>
                  <a:lnTo>
                    <a:pt x="77" y="20"/>
                  </a:lnTo>
                  <a:lnTo>
                    <a:pt x="53" y="20"/>
                  </a:lnTo>
                  <a:lnTo>
                    <a:pt x="53" y="8"/>
                  </a:lnTo>
                  <a:lnTo>
                    <a:pt x="77" y="8"/>
                  </a:lnTo>
                  <a:lnTo>
                    <a:pt x="90" y="8"/>
                  </a:lnTo>
                  <a:lnTo>
                    <a:pt x="90" y="94"/>
                  </a:lnTo>
                  <a:lnTo>
                    <a:pt x="77" y="94"/>
                  </a:lnTo>
                  <a:lnTo>
                    <a:pt x="12" y="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1995488" y="1165226"/>
              <a:ext cx="39688" cy="46038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0" y="23"/>
                  </a:moveTo>
                  <a:lnTo>
                    <a:pt x="14" y="0"/>
                  </a:lnTo>
                  <a:lnTo>
                    <a:pt x="25" y="6"/>
                  </a:lnTo>
                  <a:lnTo>
                    <a:pt x="10" y="29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1938338" y="1158876"/>
              <a:ext cx="39688" cy="46038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25" y="23"/>
                  </a:moveTo>
                  <a:lnTo>
                    <a:pt x="14" y="29"/>
                  </a:lnTo>
                  <a:lnTo>
                    <a:pt x="0" y="6"/>
                  </a:lnTo>
                  <a:lnTo>
                    <a:pt x="10" y="0"/>
                  </a:lnTo>
                  <a:lnTo>
                    <a:pt x="25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1898650" y="1165226"/>
              <a:ext cx="39688" cy="46038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0" y="6"/>
                  </a:moveTo>
                  <a:lnTo>
                    <a:pt x="11" y="0"/>
                  </a:lnTo>
                  <a:lnTo>
                    <a:pt x="25" y="23"/>
                  </a:lnTo>
                  <a:lnTo>
                    <a:pt x="15" y="29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1892300" y="1109663"/>
              <a:ext cx="134938" cy="46038"/>
            </a:xfrm>
            <a:custGeom>
              <a:avLst/>
              <a:gdLst/>
              <a:ahLst/>
              <a:cxnLst/>
              <a:rect l="l" t="t" r="r" b="b"/>
              <a:pathLst>
                <a:path w="85" h="29" extrusionOk="0">
                  <a:moveTo>
                    <a:pt x="0" y="17"/>
                  </a:moveTo>
                  <a:lnTo>
                    <a:pt x="82" y="0"/>
                  </a:lnTo>
                  <a:lnTo>
                    <a:pt x="85" y="11"/>
                  </a:lnTo>
                  <a:lnTo>
                    <a:pt x="3" y="29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1768475" y="1160463"/>
              <a:ext cx="117475" cy="207963"/>
            </a:xfrm>
            <a:custGeom>
              <a:avLst/>
              <a:gdLst/>
              <a:ahLst/>
              <a:cxnLst/>
              <a:rect l="l" t="t" r="r" b="b"/>
              <a:pathLst>
                <a:path w="74" h="131" extrusionOk="0">
                  <a:moveTo>
                    <a:pt x="46" y="49"/>
                  </a:moveTo>
                  <a:lnTo>
                    <a:pt x="48" y="48"/>
                  </a:lnTo>
                  <a:lnTo>
                    <a:pt x="71" y="88"/>
                  </a:lnTo>
                  <a:lnTo>
                    <a:pt x="60" y="94"/>
                  </a:lnTo>
                  <a:lnTo>
                    <a:pt x="46" y="68"/>
                  </a:lnTo>
                  <a:lnTo>
                    <a:pt x="46" y="131"/>
                  </a:lnTo>
                  <a:lnTo>
                    <a:pt x="33" y="131"/>
                  </a:lnTo>
                  <a:lnTo>
                    <a:pt x="33" y="59"/>
                  </a:lnTo>
                  <a:lnTo>
                    <a:pt x="11" y="98"/>
                  </a:lnTo>
                  <a:lnTo>
                    <a:pt x="0" y="91"/>
                  </a:lnTo>
                  <a:lnTo>
                    <a:pt x="33" y="34"/>
                  </a:lnTo>
                  <a:lnTo>
                    <a:pt x="33" y="25"/>
                  </a:lnTo>
                  <a:lnTo>
                    <a:pt x="5" y="25"/>
                  </a:lnTo>
                  <a:lnTo>
                    <a:pt x="5" y="13"/>
                  </a:lnTo>
                  <a:lnTo>
                    <a:pt x="33" y="13"/>
                  </a:lnTo>
                  <a:lnTo>
                    <a:pt x="33" y="0"/>
                  </a:lnTo>
                  <a:lnTo>
                    <a:pt x="46" y="0"/>
                  </a:lnTo>
                  <a:lnTo>
                    <a:pt x="46" y="13"/>
                  </a:lnTo>
                  <a:lnTo>
                    <a:pt x="74" y="13"/>
                  </a:lnTo>
                  <a:lnTo>
                    <a:pt x="74" y="25"/>
                  </a:lnTo>
                  <a:lnTo>
                    <a:pt x="46" y="25"/>
                  </a:lnTo>
                  <a:lnTo>
                    <a:pt x="46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1774825" y="1111251"/>
              <a:ext cx="103188" cy="44450"/>
            </a:xfrm>
            <a:custGeom>
              <a:avLst/>
              <a:gdLst/>
              <a:ahLst/>
              <a:cxnLst/>
              <a:rect l="l" t="t" r="r" b="b"/>
              <a:pathLst>
                <a:path w="65" h="28" extrusionOk="0">
                  <a:moveTo>
                    <a:pt x="0" y="16"/>
                  </a:moveTo>
                  <a:lnTo>
                    <a:pt x="62" y="0"/>
                  </a:lnTo>
                  <a:lnTo>
                    <a:pt x="65" y="11"/>
                  </a:lnTo>
                  <a:lnTo>
                    <a:pt x="4" y="2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1281113" y="1446213"/>
              <a:ext cx="698501" cy="392113"/>
            </a:xfrm>
            <a:custGeom>
              <a:avLst/>
              <a:gdLst/>
              <a:ahLst/>
              <a:cxnLst/>
              <a:rect l="l" t="t" r="r" b="b"/>
              <a:pathLst>
                <a:path w="776" h="436" extrusionOk="0">
                  <a:moveTo>
                    <a:pt x="740" y="336"/>
                  </a:moveTo>
                  <a:cubicBezTo>
                    <a:pt x="710" y="365"/>
                    <a:pt x="670" y="383"/>
                    <a:pt x="626" y="383"/>
                  </a:cubicBezTo>
                  <a:cubicBezTo>
                    <a:pt x="536" y="383"/>
                    <a:pt x="462" y="309"/>
                    <a:pt x="462" y="218"/>
                  </a:cubicBezTo>
                  <a:cubicBezTo>
                    <a:pt x="462" y="128"/>
                    <a:pt x="536" y="54"/>
                    <a:pt x="626" y="54"/>
                  </a:cubicBezTo>
                  <a:cubicBezTo>
                    <a:pt x="670" y="54"/>
                    <a:pt x="709" y="71"/>
                    <a:pt x="738" y="99"/>
                  </a:cubicBezTo>
                  <a:cubicBezTo>
                    <a:pt x="774" y="58"/>
                    <a:pt x="774" y="58"/>
                    <a:pt x="774" y="58"/>
                  </a:cubicBezTo>
                  <a:cubicBezTo>
                    <a:pt x="735" y="22"/>
                    <a:pt x="683" y="0"/>
                    <a:pt x="626" y="0"/>
                  </a:cubicBezTo>
                  <a:cubicBezTo>
                    <a:pt x="532" y="0"/>
                    <a:pt x="453" y="58"/>
                    <a:pt x="422" y="141"/>
                  </a:cubicBezTo>
                  <a:cubicBezTo>
                    <a:pt x="391" y="58"/>
                    <a:pt x="311" y="0"/>
                    <a:pt x="218" y="0"/>
                  </a:cubicBez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6"/>
                    <a:pt x="218" y="436"/>
                  </a:cubicBezTo>
                  <a:cubicBezTo>
                    <a:pt x="311" y="436"/>
                    <a:pt x="391" y="377"/>
                    <a:pt x="422" y="294"/>
                  </a:cubicBezTo>
                  <a:cubicBezTo>
                    <a:pt x="453" y="377"/>
                    <a:pt x="532" y="436"/>
                    <a:pt x="626" y="436"/>
                  </a:cubicBezTo>
                  <a:cubicBezTo>
                    <a:pt x="684" y="436"/>
                    <a:pt x="737" y="413"/>
                    <a:pt x="776" y="375"/>
                  </a:cubicBezTo>
                  <a:lnTo>
                    <a:pt x="740" y="336"/>
                  </a:lnTo>
                  <a:close/>
                  <a:moveTo>
                    <a:pt x="218" y="382"/>
                  </a:moveTo>
                  <a:cubicBezTo>
                    <a:pt x="128" y="382"/>
                    <a:pt x="55" y="309"/>
                    <a:pt x="55" y="219"/>
                  </a:cubicBezTo>
                  <a:cubicBezTo>
                    <a:pt x="55" y="128"/>
                    <a:pt x="128" y="55"/>
                    <a:pt x="218" y="55"/>
                  </a:cubicBezTo>
                  <a:cubicBezTo>
                    <a:pt x="308" y="55"/>
                    <a:pt x="381" y="128"/>
                    <a:pt x="381" y="219"/>
                  </a:cubicBezTo>
                  <a:cubicBezTo>
                    <a:pt x="381" y="309"/>
                    <a:pt x="308" y="382"/>
                    <a:pt x="218" y="3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603250" y="1054101"/>
              <a:ext cx="679449" cy="800099"/>
            </a:xfrm>
            <a:custGeom>
              <a:avLst/>
              <a:gdLst/>
              <a:ahLst/>
              <a:cxnLst/>
              <a:rect l="l" t="t" r="r" b="b"/>
              <a:pathLst>
                <a:path w="756" h="888" extrusionOk="0">
                  <a:moveTo>
                    <a:pt x="313" y="0"/>
                  </a:moveTo>
                  <a:cubicBezTo>
                    <a:pt x="307" y="0"/>
                    <a:pt x="302" y="0"/>
                    <a:pt x="296" y="1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8"/>
                    <a:pt x="0" y="888"/>
                    <a:pt x="0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301" y="888"/>
                    <a:pt x="306" y="888"/>
                    <a:pt x="311" y="888"/>
                  </a:cubicBezTo>
                  <a:cubicBezTo>
                    <a:pt x="556" y="888"/>
                    <a:pt x="756" y="686"/>
                    <a:pt x="756" y="442"/>
                  </a:cubicBezTo>
                  <a:cubicBezTo>
                    <a:pt x="756" y="197"/>
                    <a:pt x="557" y="1"/>
                    <a:pt x="313" y="0"/>
                  </a:cubicBezTo>
                  <a:close/>
                  <a:moveTo>
                    <a:pt x="257" y="326"/>
                  </a:moveTo>
                  <a:cubicBezTo>
                    <a:pt x="268" y="192"/>
                    <a:pt x="349" y="92"/>
                    <a:pt x="349" y="92"/>
                  </a:cubicBezTo>
                  <a:cubicBezTo>
                    <a:pt x="349" y="92"/>
                    <a:pt x="427" y="188"/>
                    <a:pt x="411" y="341"/>
                  </a:cubicBezTo>
                  <a:cubicBezTo>
                    <a:pt x="396" y="491"/>
                    <a:pt x="317" y="578"/>
                    <a:pt x="317" y="578"/>
                  </a:cubicBezTo>
                  <a:cubicBezTo>
                    <a:pt x="317" y="578"/>
                    <a:pt x="245" y="459"/>
                    <a:pt x="257" y="326"/>
                  </a:cubicBezTo>
                  <a:close/>
                  <a:moveTo>
                    <a:pt x="234" y="790"/>
                  </a:moveTo>
                  <a:cubicBezTo>
                    <a:pt x="234" y="790"/>
                    <a:pt x="127" y="667"/>
                    <a:pt x="118" y="558"/>
                  </a:cubicBezTo>
                  <a:cubicBezTo>
                    <a:pt x="105" y="410"/>
                    <a:pt x="212" y="279"/>
                    <a:pt x="212" y="279"/>
                  </a:cubicBezTo>
                  <a:cubicBezTo>
                    <a:pt x="205" y="483"/>
                    <a:pt x="273" y="573"/>
                    <a:pt x="273" y="573"/>
                  </a:cubicBezTo>
                  <a:cubicBezTo>
                    <a:pt x="273" y="573"/>
                    <a:pt x="289" y="597"/>
                    <a:pt x="278" y="667"/>
                  </a:cubicBezTo>
                  <a:cubicBezTo>
                    <a:pt x="267" y="736"/>
                    <a:pt x="234" y="790"/>
                    <a:pt x="234" y="790"/>
                  </a:cubicBezTo>
                  <a:close/>
                  <a:moveTo>
                    <a:pt x="505" y="664"/>
                  </a:moveTo>
                  <a:cubicBezTo>
                    <a:pt x="408" y="771"/>
                    <a:pt x="278" y="789"/>
                    <a:pt x="278" y="789"/>
                  </a:cubicBezTo>
                  <a:cubicBezTo>
                    <a:pt x="278" y="789"/>
                    <a:pt x="282" y="666"/>
                    <a:pt x="395" y="559"/>
                  </a:cubicBezTo>
                  <a:cubicBezTo>
                    <a:pt x="508" y="453"/>
                    <a:pt x="616" y="426"/>
                    <a:pt x="616" y="426"/>
                  </a:cubicBezTo>
                  <a:cubicBezTo>
                    <a:pt x="616" y="426"/>
                    <a:pt x="601" y="557"/>
                    <a:pt x="505" y="6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0483" y="-125775"/>
            <a:ext cx="1013456" cy="7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6050" y="461626"/>
            <a:ext cx="3469049" cy="47127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55600" y="735050"/>
            <a:ext cx="4554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code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Case1 : When you know the exception is thrown , use ON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Case2: When you don’t know the exception use catch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55600" y="3070675"/>
            <a:ext cx="1085700" cy="6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Finally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case3: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9" name="Google Shape;14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1300" y="2638825"/>
            <a:ext cx="3029450" cy="250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191525" y="164600"/>
            <a:ext cx="2489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Examples: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2019300"/>
            <a:ext cx="4968600" cy="312420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2632466" y="291683"/>
            <a:ext cx="56673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9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929" y="175350"/>
            <a:ext cx="908825" cy="937275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409"/>
              </a:srgbClr>
            </a:outerShdw>
          </a:effectLst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0483" y="-125775"/>
            <a:ext cx="1013456" cy="7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55225" y="519027"/>
            <a:ext cx="6499826" cy="4522675"/>
          </a:xfrm>
          <a:prstGeom prst="rect">
            <a:avLst/>
          </a:prstGeom>
          <a:noFill/>
          <a:ln w="9525" cap="flat" cmpd="sng">
            <a:solidFill>
              <a:srgbClr val="062374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5176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2285383" y="2757548"/>
            <a:ext cx="5550300" cy="2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165" name="Google Shape;165;p20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400" y="790863"/>
            <a:ext cx="2032390" cy="203239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409"/>
              </a:srgbClr>
            </a:outerShdw>
          </a:effectLst>
        </p:spPr>
      </p:pic>
      <p:sp>
        <p:nvSpPr>
          <p:cNvPr id="166" name="Google Shape;166;p20"/>
          <p:cNvSpPr/>
          <p:nvPr/>
        </p:nvSpPr>
        <p:spPr>
          <a:xfrm>
            <a:off x="195825" y="920325"/>
            <a:ext cx="6333900" cy="1758600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000" dirty="0">
                <a:solidFill>
                  <a:schemeClr val="lt1"/>
                </a:solidFill>
              </a:rPr>
              <a:t>Custom exceptions are exceptions we create.</a:t>
            </a:r>
            <a:endParaRPr sz="20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example, Think if a problem rises when the device is getting hot, but managing that problem is not an exception because that type of exception is not there, but it’s a problem.So for that we will create an exception for the problems that are not listed in the types of exceptions.</a:t>
            </a:r>
            <a:endParaRPr b="1" dirty="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093550" y="3088225"/>
            <a:ext cx="6493200" cy="1823700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for creating an custom exception we must know about some keywords</a:t>
            </a:r>
            <a:endParaRPr sz="17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667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lang="en" sz="17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sz="17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667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lang="en" sz="17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constructor </a:t>
            </a:r>
            <a:endParaRPr sz="17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667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lang="en" sz="17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implements </a:t>
            </a:r>
            <a:endParaRPr sz="17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667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•"/>
            </a:pPr>
            <a:r>
              <a:rPr lang="en" sz="17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throw</a:t>
            </a:r>
            <a:endParaRPr b="1" dirty="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736387" y="182393"/>
            <a:ext cx="6099300" cy="9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Custom Exception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0483" y="-125775"/>
            <a:ext cx="1013456" cy="76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/>
          <p:nvPr/>
        </p:nvSpPr>
        <p:spPr>
          <a:xfrm rot="5400000">
            <a:off x="-112" y="150"/>
            <a:ext cx="2129100" cy="2128800"/>
          </a:xfrm>
          <a:prstGeom prst="rtTriangl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1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09" y="94738"/>
            <a:ext cx="843232" cy="76152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409"/>
              </a:srgbClr>
            </a:outerShdw>
          </a:effectLst>
        </p:spPr>
      </p:pic>
      <p:pic>
        <p:nvPicPr>
          <p:cNvPr id="176" name="Google Shape;17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0483" y="-125775"/>
            <a:ext cx="1013456" cy="761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486675" y="870575"/>
            <a:ext cx="32064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0" y="2019300"/>
            <a:ext cx="4968600" cy="3124200"/>
          </a:xfrm>
          <a:prstGeom prst="rtTriangl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50425" y="951000"/>
            <a:ext cx="5097000" cy="4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</a:rPr>
              <a:t>class-</a:t>
            </a:r>
            <a:r>
              <a:rPr lang="en" sz="1700" dirty="0">
                <a:solidFill>
                  <a:schemeClr val="dk1"/>
                </a:solidFill>
              </a:rPr>
              <a:t> class is where we group items related to a base item, in other words its an library.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</a:rPr>
              <a:t>constructor- </a:t>
            </a:r>
            <a:r>
              <a:rPr lang="en" sz="1700" dirty="0">
                <a:solidFill>
                  <a:schemeClr val="dk1"/>
                </a:solidFill>
              </a:rPr>
              <a:t>constructor is responsible for allocating memory for new objects inside a class.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</a:rPr>
              <a:t>Implements- </a:t>
            </a:r>
            <a:r>
              <a:rPr lang="en" sz="1700" dirty="0">
                <a:solidFill>
                  <a:schemeClr val="dk1"/>
                </a:solidFill>
              </a:rPr>
              <a:t>An implementation class defines the physical implementation of objects of a class.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</a:rPr>
              <a:t>throw-</a:t>
            </a:r>
            <a:r>
              <a:rPr lang="en" sz="1700" dirty="0">
                <a:solidFill>
                  <a:schemeClr val="dk1"/>
                </a:solidFill>
              </a:rPr>
              <a:t> throw keyword is used to explicitly raise an exception. A raised exception should be handled to prevent the program from exiting abruptly.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</a:rPr>
              <a:t>(detailing of these keywords will be found in following modules)</a:t>
            </a:r>
            <a:endParaRPr sz="1500" dirty="0">
              <a:solidFill>
                <a:schemeClr val="dk2"/>
              </a:solidFill>
            </a:endParaRPr>
          </a:p>
        </p:txBody>
      </p:sp>
      <p:pic>
        <p:nvPicPr>
          <p:cNvPr id="180" name="Google Shape;180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5600" y="1037400"/>
            <a:ext cx="3852225" cy="39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686</Words>
  <Application>Microsoft Office PowerPoint</Application>
  <PresentationFormat>On-screen Show (16:9)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Gill Sans</vt:lpstr>
      <vt:lpstr>Microsoft YaHei</vt:lpstr>
      <vt:lpstr>Calibri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Athulya P</cp:lastModifiedBy>
  <cp:revision>2</cp:revision>
  <dcterms:modified xsi:type="dcterms:W3CDTF">2025-09-11T06:50:25Z</dcterms:modified>
</cp:coreProperties>
</file>