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Gill Sans" panose="020B0604020202020204" charset="0"/>
      <p:regular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D0D0D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Hello everyone, welcome to our session on "Introduction to Flutter Widgets." Today, we'll delve into the fundamental building blocks of Flutter app development: widgets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/>
              <a:t>FLUTTER WIDGETS ARE THE FUNDAMENTAL ELEMENTS OF YOUR APP'S UI.</a:t>
            </a:r>
            <a:endParaRPr sz="4200"/>
          </a:p>
          <a:p>
            <a:pPr marL="28575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Arial" panose="020B0604020202020204"/>
              <a:buNone/>
            </a:pPr>
            <a:endParaRPr sz="2300"/>
          </a:p>
          <a:p>
            <a:pPr marL="28575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/>
              <a:t>WIDGETS ARE REUSABLE AND COMPOSABLE, ENABLING YOU TO BUILD COMPLEX UIS BY COMBINING SMALLER WIDGETS.</a:t>
            </a:r>
            <a:endParaRPr sz="4300"/>
          </a:p>
          <a:p>
            <a:pPr marL="28575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Arial" panose="020B0604020202020204"/>
              <a:buNone/>
            </a:pPr>
            <a:endParaRPr sz="1300"/>
          </a:p>
          <a:p>
            <a:pPr marL="28575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/>
              <a:t>FLUTTER OFFERS A RICH LIBRARY OF PRE-BUILT WIDGETS FOR BASIC AND ADVANCED UI COMPONENTS.</a:t>
            </a:r>
            <a:endParaRPr sz="4300"/>
          </a:p>
          <a:p>
            <a:pPr marL="28575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Arial" panose="020B0604020202020204"/>
              <a:buNone/>
            </a:pPr>
            <a:endParaRPr sz="1300"/>
          </a:p>
          <a:p>
            <a:pPr marL="28575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/>
              <a:t>WIDGETS ARE HIGHLY CUSTOMIZABLE, ALLOWING YOU TO TAILOR THEIR APPEARANCE AND BEHAVIOR TO YOUR SPECIFIC NEEDS. </a:t>
            </a:r>
            <a:endParaRPr sz="200"/>
          </a:p>
        </p:txBody>
      </p:sp>
      <p:sp>
        <p:nvSpPr>
          <p:cNvPr id="181" name="Google Shape;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layouts ?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Layouts define the overall structure and organization of your app's content. 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They provide the framework for placing and arranging your widgets.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Now, lets discuss some common Widgets </a:t>
            </a:r>
            <a:endParaRPr sz="1400"/>
          </a:p>
          <a:p>
            <a:pPr marL="28575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Row</a:t>
            </a:r>
            <a:endParaRPr sz="1400"/>
          </a:p>
          <a:p>
            <a:pPr marL="28575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Column</a:t>
            </a:r>
            <a:endParaRPr sz="1400"/>
          </a:p>
          <a:p>
            <a:pPr marL="28575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Stack</a:t>
            </a:r>
            <a:endParaRPr sz="1400"/>
          </a:p>
          <a:p>
            <a:pPr marL="28575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Grid</a:t>
            </a:r>
            <a:endParaRPr sz="1400"/>
          </a:p>
          <a:p>
            <a:pPr marL="28575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Padding and Margin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from the next slide onwards, we can see these layouts in detail.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 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197" name="Google Shape;1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3</a:t>
            </a:fld>
            <a:endParaRPr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/>
              <a:t>Row Widget: Arrange widgets horizontally in a single line.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4</a:t>
            </a:fld>
            <a:endParaRPr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/>
              <a:t>Column Widget: Arrange widgets vertically in a single line. 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5</a:t>
            </a:fld>
            <a:endParaRPr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/>
              <a:t>Stack Widget: Overlay widgets on top of each other.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6</a:t>
            </a:fld>
            <a:endParaRPr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/>
              <a:t>Grid Widget: Arrange widgets in a grid-like layout.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4" name="Google Shape;26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7</a:t>
            </a:fld>
            <a:endParaRPr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/>
              <a:t>Padding and Margin: Add spacing between widgets and their container.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8</a:t>
            </a:fld>
            <a:endParaRPr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000"/>
              <a:t>Interactive Elements: UI components are the interactive elements of your app that allow users to interact with it. These components include buttons, text fields, sliders, and more.</a:t>
            </a:r>
            <a:endParaRPr sz="1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Common UI Components:</a:t>
            </a:r>
            <a:endParaRPr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Text: </a:t>
            </a:r>
            <a:endParaRPr sz="11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/>
              <a:t>Display textual content with various styles and formatting options.</a:t>
            </a:r>
            <a:endParaRPr sz="11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1100"/>
          </a:p>
          <a:p>
            <a:pPr marL="28575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Image: </a:t>
            </a:r>
            <a:endParaRPr sz="11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/>
              <a:t>Display images and other visual assets.</a:t>
            </a:r>
            <a:endParaRPr sz="11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1100"/>
          </a:p>
          <a:p>
            <a:pPr marL="28575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Button: </a:t>
            </a:r>
            <a:endParaRPr sz="11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/>
              <a:t>Trigger actions and events when clicked or tapped.</a:t>
            </a:r>
            <a:endParaRPr sz="11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100"/>
          </a:p>
          <a:p>
            <a:pPr marL="28575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Input Fields: </a:t>
            </a:r>
            <a:endParaRPr sz="11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00"/>
              <a:t>Allow users to enter text, numbers, or other data.</a:t>
            </a:r>
            <a:endParaRPr sz="11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1100"/>
          </a:p>
          <a:p>
            <a:pPr marL="28575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Icons: Represent concepts and actions visually.</a:t>
            </a:r>
            <a:endParaRPr sz="1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000"/>
          </a:p>
        </p:txBody>
      </p:sp>
      <p:sp>
        <p:nvSpPr>
          <p:cNvPr id="296" name="Google Shape;2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OnTap: Trigger an action when the widget is tapped.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 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OnSwipe: Trigger an action when the user swipes across the widget.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 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Long press: The long-press event is triggered when a user holds down a particular item for some seconds</a:t>
            </a:r>
          </a:p>
        </p:txBody>
      </p:sp>
      <p:sp>
        <p:nvSpPr>
          <p:cNvPr id="310" name="Google Shape;31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10</a:t>
            </a:fld>
            <a:endParaRPr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2" name="Google Shape;3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Consistent Appearance: Theming allows you to define the overall visual style of your app, including colors, fonts, and other visual elements. This helps create a consistent and user-friendly experience.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 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Material Design: Flutter integrates seamlessly with Material Design, a set of guidelines for creating beautiful and functional UIs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 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Customizing Themes: You can customize the default theme or create your own custom theme to achieve the desired look and feel for your app.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336" name="Google Shape;33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AppBar: Provides a navigation bar and title for your app.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BottomNavigationBar: Enables tab-based navigation between different screens.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Card: Displays structured information with a distinctive design.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FloatingActionButton: Provides a prominent action button for performing key actions.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Dialogs: Display modal windows for confirmations, alerts, and other user interactions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351" name="Google Shape;35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83260ff38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2b83260ff38_1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AppBar: Provides a navigation bar and title for your app.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BottomNavigationBar: Enables tab-based navigation between different screens.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Card: Displays structured information with a distinctive design.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FloatingActionButton: Provides a prominent action button for performing key actions.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Dialogs: Display modal windows for confirmations, alerts, and other user interactions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362" name="Google Shape;362;g2b83260ff38_1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b83260ff38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2b83260ff38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AppBar: Provides a navigation bar and title for your app.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BottomNavigationBar: Enables tab-based navigation between different screens.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Card: Displays structured information with a distinctive design.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FloatingActionButton: Provides a prominent action button for performing key actions.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Dialogs: Display modal windows for confirmations, alerts, and other user interactions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371" name="Google Shape;371;g2b83260ff38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b83260ff38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2b83260ff38_1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AppBar: Provides a navigation bar and title for your app.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BottomNavigationBar: Enables tab-based navigation between different screens.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Card: Displays structured information with a distinctive design.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FloatingActionButton: Provides a prominent action button for performing key actions.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Dialogs: Display modal windows for confirmations, alerts, and other user interactions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380" name="Google Shape;380;g2b83260ff38_1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b83260ff38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2b83260ff38_1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AppBar: Provides a navigation bar and title for your app.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BottomNavigationBar: Enables tab-based navigation between different screens.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Card: Displays structured information with a distinctive design.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FloatingActionButton: Provides a prominent action button for performing key actions.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Dialogs: Display modal windows for confirmations, alerts, and other user interactions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389" name="Google Shape;389;g2b83260ff38_1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b83260ff38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2b83260ff38_1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AppBar: Provides a navigation bar and title for your app.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BottomNavigationBar: Enables tab-based navigation between different screens.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Card: Displays structured information with a distinctive design.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FloatingActionButton: Provides a prominent action button for performing key actions.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Dialogs: Display modal windows for confirmations, alerts, and other user interactions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398" name="Google Shape;398;g2b83260ff38_1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05435" lvl="0" indent="-26098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6"/>
              <a:buChar char="◼"/>
            </a:pPr>
            <a:r>
              <a:rPr lang="en-US" sz="1100"/>
              <a:t>Adding Life and Dynamism: Animations and transitions add visual interest and improve the user experience by making your UI feel more natural and engaging.</a:t>
            </a:r>
            <a:endParaRPr sz="2300"/>
          </a:p>
          <a:p>
            <a:pPr marL="305435" lvl="0" indent="-260985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956"/>
              <a:buChar char="◼"/>
            </a:pPr>
            <a:r>
              <a:rPr lang="en-US" sz="1100"/>
              <a:t>Flutter's Animation Framework: Flutter provides a powerful animation framework that allows you to easily use animations.</a:t>
            </a:r>
            <a:endParaRPr sz="200"/>
          </a:p>
        </p:txBody>
      </p:sp>
      <p:sp>
        <p:nvSpPr>
          <p:cNvPr id="406" name="Google Shape;4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Google Shape;20;p16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Gill Sans" panose="020B0502020104020203"/>
              <a:buNone/>
              <a:defRPr sz="3600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Google Shape;33;p20"/>
          <p:cNvSpPr txBox="1"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Gill Sans" panose="020B0502020104020203"/>
              <a:buNone/>
              <a:defRPr sz="3600" b="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194767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2"/>
          </p:nvPr>
        </p:nvSpPr>
        <p:spPr>
          <a:xfrm>
            <a:off x="6416039" y="2228003"/>
            <a:ext cx="5194769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3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4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25"/>
          <p:cNvSpPr txBox="1"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ill Sans" panose="020B0502020104020203"/>
              <a:buNone/>
              <a:defRPr sz="24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body" idx="1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51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2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Gill Sans" panose="020B0502020104020203"/>
              <a:buNone/>
              <a:defRPr sz="2400" b="0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>
            <a:spLocks noGrp="1"/>
          </p:cNvSpPr>
          <p:nvPr>
            <p:ph type="pic" idx="2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4269977" y="-1352782"/>
            <a:ext cx="3652047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 panose="020B0502020104020203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2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28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1" name="Google Shape;91;p28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6" name="Google Shape;146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 panose="020B0502020104020203"/>
              <a:buNone/>
              <a:defRPr sz="28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40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914400" marR="0" lvl="1" indent="-32194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1371600" marR="0" lvl="2" indent="-31051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3F3F3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5" name="Google Shape;15;p15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Google Shape;16;p15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Google Shape;17;p15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174" name="Google Shape;174;p1" descr="A person holding a phone&#10;&#10;Description automatically generated"/>
          <p:cNvPicPr preferRelativeResize="0"/>
          <p:nvPr/>
        </p:nvPicPr>
        <p:blipFill rotWithShape="1">
          <a:blip r:embed="rId3"/>
          <a:srcRect t="3576" b="121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"/>
          <p:cNvSpPr/>
          <p:nvPr/>
        </p:nvSpPr>
        <p:spPr>
          <a:xfrm>
            <a:off x="3" y="0"/>
            <a:ext cx="93393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20000"/>
                </a:srgbClr>
              </a:gs>
              <a:gs pos="58000">
                <a:srgbClr val="000000">
                  <a:alpha val="28627"/>
                </a:srgbClr>
              </a:gs>
              <a:gs pos="100000">
                <a:srgbClr val="000000">
                  <a:alpha val="28627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76" name="Google Shape;176;p1"/>
          <p:cNvSpPr txBox="1">
            <a:spLocks noGrp="1"/>
          </p:cNvSpPr>
          <p:nvPr>
            <p:ph type="ctrTitle"/>
          </p:nvPr>
        </p:nvSpPr>
        <p:spPr>
          <a:xfrm>
            <a:off x="264621" y="929322"/>
            <a:ext cx="5151120" cy="280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ill Sans" panose="020B0502020104020203"/>
              <a:buNone/>
            </a:pPr>
            <a:r>
              <a:rPr lang="en-US" sz="40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 TO FLUTTER WIDGETS 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" name="Google Shape;177;p1"/>
          <p:cNvSpPr txBox="1">
            <a:spLocks noGrp="1"/>
          </p:cNvSpPr>
          <p:nvPr>
            <p:ph type="subTitle" idx="1"/>
          </p:nvPr>
        </p:nvSpPr>
        <p:spPr>
          <a:xfrm>
            <a:off x="335740" y="3847432"/>
            <a:ext cx="4023359" cy="120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BUILDING BLOCKS OF BEAUTIFUL APPS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8" name="Google Shape;178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85875" y="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6" name="Google Shape;186;p2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p2"/>
          <p:cNvSpPr txBox="1">
            <a:spLocks noGrp="1"/>
          </p:cNvSpPr>
          <p:nvPr>
            <p:ph type="title"/>
          </p:nvPr>
        </p:nvSpPr>
        <p:spPr>
          <a:xfrm>
            <a:off x="6091825" y="1102500"/>
            <a:ext cx="5969700" cy="55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 panose="020B0604020202020204"/>
              <a:buChar char="•"/>
            </a:pPr>
            <a:r>
              <a:rPr lang="en-US" sz="23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FUNDAMENTAL ELEMENTS OF YOUR APP'S UI.</a:t>
            </a:r>
            <a:endParaRPr sz="53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Arial" panose="020B0604020202020204"/>
              <a:buNone/>
            </a:pPr>
            <a:endParaRPr sz="23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 panose="020B0604020202020204"/>
              <a:buChar char="•"/>
            </a:pPr>
            <a:r>
              <a:rPr lang="en-US" sz="23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REUSABLE AND COMPOSABLE, ENABLING YOU TO BUILD COMPLEX UIS BY COMBINING SMALLER WIDGETS.</a:t>
            </a:r>
            <a:endParaRPr sz="53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Arial" panose="020B0604020202020204"/>
              <a:buNone/>
            </a:pPr>
            <a:endParaRPr sz="23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 panose="020B0604020202020204"/>
              <a:buChar char="•"/>
            </a:pPr>
            <a:r>
              <a:rPr lang="en-US" sz="23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OFFERS A RICH LIBRARY OF PRE-BUILT WIDGETS FOR BASIC AND ADVANCED UI COMPONENTS.</a:t>
            </a:r>
            <a:endParaRPr sz="53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Arial" panose="020B0604020202020204"/>
              <a:buNone/>
            </a:pPr>
            <a:endParaRPr sz="23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 panose="020B0604020202020204"/>
              <a:buChar char="•"/>
            </a:pPr>
            <a:r>
              <a:rPr lang="en-US" sz="23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HIGHLY CUSTOMIZABLE, ALLOWING YOU TO TAILOR THEIR APPEARANCE AND BEHAVIOR TO YOUR SPECIFIC NEEDS. </a:t>
            </a:r>
            <a:endParaRPr sz="2300">
              <a:solidFill>
                <a:schemeClr val="lt1"/>
              </a:solidFill>
            </a:endParaRPr>
          </a:p>
        </p:txBody>
      </p:sp>
      <p:pic>
        <p:nvPicPr>
          <p:cNvPr id="190" name="Google Shape;190;p2" descr="A person holding a phon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 l="622" r="26011" b="-1"/>
          <a:stretch>
            <a:fillRect/>
          </a:stretch>
        </p:blipFill>
        <p:spPr>
          <a:xfrm>
            <a:off x="24" y="0"/>
            <a:ext cx="6091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"/>
          <p:cNvSpPr/>
          <p:nvPr/>
        </p:nvSpPr>
        <p:spPr>
          <a:xfrm>
            <a:off x="7521585" y="457175"/>
            <a:ext cx="35112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7109215" y="640950"/>
            <a:ext cx="43359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are Flutter Widgets ?</a:t>
            </a:r>
            <a:endParaRPr sz="25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193" name="Google Shape;193;p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588912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5" name="Google Shape;205;p3"/>
          <p:cNvSpPr txBox="1">
            <a:spLocks noGrp="1"/>
          </p:cNvSpPr>
          <p:nvPr>
            <p:ph type="title"/>
          </p:nvPr>
        </p:nvSpPr>
        <p:spPr>
          <a:xfrm>
            <a:off x="638620" y="1024681"/>
            <a:ext cx="3511233" cy="24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8000"/>
              <a:buFont typeface="Gill Sans" panose="020B0502020104020203"/>
              <a:buNone/>
            </a:pPr>
            <a:r>
              <a:rPr lang="en-US" sz="282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LAYOUTS</a:t>
            </a:r>
            <a:endParaRPr sz="202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Gill Sans" panose="020B0502020104020203"/>
              <a:buNone/>
            </a:pPr>
            <a:endParaRPr sz="3600">
              <a:solidFill>
                <a:schemeClr val="lt1"/>
              </a:solidFill>
            </a:endParaRPr>
          </a:p>
        </p:txBody>
      </p:sp>
      <p:pic>
        <p:nvPicPr>
          <p:cNvPr id="206" name="Google Shape;206;p3" descr="A person holding a piece of paper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 l="11192" r="15440" b="-1"/>
          <a:stretch>
            <a:fillRect/>
          </a:stretch>
        </p:blipFill>
        <p:spPr>
          <a:xfrm>
            <a:off x="5774175" y="0"/>
            <a:ext cx="6417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"/>
          <p:cNvSpPr txBox="1"/>
          <p:nvPr/>
        </p:nvSpPr>
        <p:spPr>
          <a:xfrm>
            <a:off x="446525" y="1267063"/>
            <a:ext cx="5344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23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libri" panose="020F0502020204030204"/>
              <a:buChar char="●"/>
            </a:pPr>
            <a:r>
              <a:rPr lang="en-US" sz="23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r>
              <a:rPr lang="en-US" sz="23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efine the overall structure and organization of your app's content. </a:t>
            </a:r>
            <a:endParaRPr sz="23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libri" panose="020F0502020204030204"/>
              <a:buChar char="●"/>
            </a:pPr>
            <a:r>
              <a:rPr lang="en-US" sz="23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</a:t>
            </a:r>
            <a:r>
              <a:rPr lang="en-US" sz="23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rovide the framework for placing and arranging your widgets.</a:t>
            </a:r>
            <a:endParaRPr sz="23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08" name="Google Shape;208;p3"/>
          <p:cNvSpPr txBox="1"/>
          <p:nvPr/>
        </p:nvSpPr>
        <p:spPr>
          <a:xfrm>
            <a:off x="2274200" y="3615300"/>
            <a:ext cx="32061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Common </a:t>
            </a:r>
            <a:r>
              <a:rPr lang="en-US" sz="2800">
                <a:solidFill>
                  <a:schemeClr val="lt1"/>
                </a:solidFill>
              </a:rPr>
              <a:t>Layouts</a:t>
            </a:r>
            <a:endParaRPr sz="2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2337201" y="4479075"/>
            <a:ext cx="30801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 panose="020B0604020202020204"/>
              <a:buChar char="•"/>
            </a:pPr>
            <a:r>
              <a:rPr lang="en-US" sz="25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Row</a:t>
            </a:r>
            <a:endParaRPr sz="25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 panose="020B0604020202020204"/>
              <a:buChar char="•"/>
            </a:pPr>
            <a:r>
              <a:rPr lang="en-US" sz="25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Column</a:t>
            </a:r>
            <a:endParaRPr sz="25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 panose="020B0604020202020204"/>
              <a:buChar char="•"/>
            </a:pPr>
            <a:r>
              <a:rPr lang="en-US" sz="25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Stack</a:t>
            </a:r>
            <a:endParaRPr sz="25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 panose="020B0604020202020204"/>
              <a:buChar char="•"/>
            </a:pPr>
            <a:r>
              <a:rPr lang="en-US" sz="25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</a:t>
            </a:r>
            <a:endParaRPr sz="25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 panose="020B0604020202020204"/>
              <a:buChar char="•"/>
            </a:pPr>
            <a:r>
              <a:rPr lang="en-US" sz="25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Padding and Margin</a:t>
            </a:r>
            <a:endParaRPr sz="25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210" name="Google Shape;210;p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5728400"/>
            <a:ext cx="1506125" cy="11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"/>
          <p:cNvSpPr/>
          <p:nvPr/>
        </p:nvSpPr>
        <p:spPr>
          <a:xfrm>
            <a:off x="5307964" y="327511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rgbClr val="D4D4D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 ,</a:t>
            </a:r>
            <a:endParaRPr sz="1400" b="0" i="0" u="none" strike="noStrike" cap="none">
              <a:solidFill>
                <a:srgbClr val="D4D4D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0" y="0"/>
            <a:ext cx="12192000" cy="687484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3" name="Google Shape;223;p4"/>
          <p:cNvSpPr txBox="1">
            <a:spLocks noGrp="1"/>
          </p:cNvSpPr>
          <p:nvPr>
            <p:ph type="title"/>
          </p:nvPr>
        </p:nvSpPr>
        <p:spPr>
          <a:xfrm>
            <a:off x="638620" y="1024681"/>
            <a:ext cx="3511233" cy="24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Gill Sans" panose="020B0502020104020203"/>
              <a:buNone/>
            </a:pPr>
            <a:r>
              <a:rPr lang="en-US" sz="3600">
                <a:solidFill>
                  <a:schemeClr val="lt1"/>
                </a:solidFill>
              </a:rPr>
              <a:t> 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-10" y="196428"/>
            <a:ext cx="31893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Row</a:t>
            </a:r>
            <a:endParaRPr sz="32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225" name="Google Shape;225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72840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784570" y="317548"/>
            <a:ext cx="2905530" cy="6239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968550" y="345325"/>
            <a:ext cx="6050675" cy="63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46534" y="3085764"/>
            <a:ext cx="11298900" cy="3338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0" y="0"/>
            <a:ext cx="12192000" cy="6874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9" name="Google Shape;239;p5"/>
          <p:cNvSpPr txBox="1">
            <a:spLocks noGrp="1"/>
          </p:cNvSpPr>
          <p:nvPr>
            <p:ph type="title"/>
          </p:nvPr>
        </p:nvSpPr>
        <p:spPr>
          <a:xfrm>
            <a:off x="638620" y="1024681"/>
            <a:ext cx="35112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Gill Sans" panose="020B0502020104020203"/>
              <a:buNone/>
            </a:pPr>
            <a:r>
              <a:rPr lang="en-US" sz="3600">
                <a:solidFill>
                  <a:schemeClr val="lt1"/>
                </a:solidFill>
              </a:rPr>
              <a:t> 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88540" y="556337"/>
            <a:ext cx="5368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88540" y="117928"/>
            <a:ext cx="31893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Column</a:t>
            </a:r>
            <a:endParaRPr sz="32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242" name="Google Shape;242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72840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08638" y="299603"/>
            <a:ext cx="2886478" cy="625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450675" y="117925"/>
            <a:ext cx="5532975" cy="67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46534" y="3085764"/>
            <a:ext cx="11298900" cy="3338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0" y="0"/>
            <a:ext cx="12192000" cy="6874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6" name="Google Shape;256;p6"/>
          <p:cNvSpPr txBox="1">
            <a:spLocks noGrp="1"/>
          </p:cNvSpPr>
          <p:nvPr>
            <p:ph type="title"/>
          </p:nvPr>
        </p:nvSpPr>
        <p:spPr>
          <a:xfrm>
            <a:off x="638620" y="1024681"/>
            <a:ext cx="35112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Gill Sans" panose="020B0502020104020203"/>
              <a:buNone/>
            </a:pPr>
            <a:r>
              <a:rPr lang="en-US" sz="3600">
                <a:solidFill>
                  <a:schemeClr val="lt1"/>
                </a:solidFill>
              </a:rPr>
              <a:t> 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-10" y="117928"/>
            <a:ext cx="31893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Stack</a:t>
            </a:r>
            <a:endParaRPr sz="32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258" name="Google Shape;258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72840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258032" y="362087"/>
            <a:ext cx="2915057" cy="627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6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45425" y="234863"/>
            <a:ext cx="4648800" cy="64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46534" y="3085764"/>
            <a:ext cx="11298900" cy="3338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0" y="0"/>
            <a:ext cx="12192000" cy="6874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2" name="Google Shape;272;p7"/>
          <p:cNvSpPr txBox="1">
            <a:spLocks noGrp="1"/>
          </p:cNvSpPr>
          <p:nvPr>
            <p:ph type="title"/>
          </p:nvPr>
        </p:nvSpPr>
        <p:spPr>
          <a:xfrm>
            <a:off x="638620" y="1024681"/>
            <a:ext cx="35112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Gill Sans" panose="020B0502020104020203"/>
              <a:buNone/>
            </a:pPr>
            <a:r>
              <a:rPr lang="en-US" sz="3600">
                <a:solidFill>
                  <a:schemeClr val="lt1"/>
                </a:solidFill>
              </a:rPr>
              <a:t> 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-10" y="3"/>
            <a:ext cx="31893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Grid</a:t>
            </a:r>
            <a:endParaRPr sz="32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274" name="Google Shape;274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72840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336222" y="318655"/>
            <a:ext cx="2838846" cy="622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419125" y="552300"/>
            <a:ext cx="6326300" cy="548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46534" y="3085764"/>
            <a:ext cx="11298900" cy="3338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0" y="0"/>
            <a:ext cx="12192000" cy="6874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8" name="Google Shape;288;p8"/>
          <p:cNvSpPr txBox="1">
            <a:spLocks noGrp="1"/>
          </p:cNvSpPr>
          <p:nvPr>
            <p:ph type="title"/>
          </p:nvPr>
        </p:nvSpPr>
        <p:spPr>
          <a:xfrm>
            <a:off x="638620" y="1024681"/>
            <a:ext cx="35112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Gill Sans" panose="020B0502020104020203"/>
              <a:buNone/>
            </a:pPr>
            <a:r>
              <a:rPr lang="en-US" sz="3600">
                <a:solidFill>
                  <a:schemeClr val="lt1"/>
                </a:solidFill>
              </a:rPr>
              <a:t> 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-148700" y="-148675"/>
            <a:ext cx="5253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Padding and Margin</a:t>
            </a:r>
            <a:endParaRPr sz="32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290" name="Google Shape;290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72840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990176" y="1024675"/>
            <a:ext cx="2586100" cy="57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8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690360" y="2150585"/>
            <a:ext cx="5901898" cy="33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8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3075376" y="2717504"/>
            <a:ext cx="2435417" cy="2076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299" name="Google Shape;299;p9" descr="A person using a computer&#10;&#10;Description automatically generated"/>
          <p:cNvPicPr preferRelativeResize="0"/>
          <p:nvPr/>
        </p:nvPicPr>
        <p:blipFill rotWithShape="1">
          <a:blip r:embed="rId3">
            <a:alphaModFix amt="40000"/>
          </a:blip>
          <a:srcRect t="6504" b="9222"/>
          <a:stretch>
            <a:fillRect/>
          </a:stretch>
        </p:blipFill>
        <p:spPr>
          <a:xfrm>
            <a:off x="7" y="4"/>
            <a:ext cx="12191981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9"/>
          <p:cNvSpPr txBox="1"/>
          <p:nvPr/>
        </p:nvSpPr>
        <p:spPr>
          <a:xfrm>
            <a:off x="879513" y="730566"/>
            <a:ext cx="29274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UI Components</a:t>
            </a:r>
            <a:endParaRPr sz="29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6267651" y="187700"/>
            <a:ext cx="49713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Common UI Components:</a:t>
            </a:r>
            <a:endParaRPr sz="25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5841599" y="941900"/>
            <a:ext cx="6350400" cy="5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Text: 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Display textual content with various styles and formatting options.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Image: 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Display images and other visual assets.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Button: 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Trigger actions and events when clicked or tapped.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Input Fields: 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Allow users to enter text, numbers, or other data.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Icons: Represent concepts and actions visually.</a:t>
            </a:r>
            <a:endParaRPr sz="22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6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79127" y="1728749"/>
            <a:ext cx="5286300" cy="24825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648796"/>
              </a:gs>
              <a:gs pos="84000">
                <a:srgbClr val="45626E"/>
              </a:gs>
              <a:gs pos="100000">
                <a:srgbClr val="45626E"/>
              </a:gs>
            </a:gsLst>
            <a:lin ang="5400000" scaled="0"/>
          </a:gradFill>
          <a:ln>
            <a:noFill/>
          </a:ln>
          <a:effectLst>
            <a:outerShdw blurRad="88900" dist="38100" dir="5040000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536625" y="1994850"/>
            <a:ext cx="49713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Interactive Elements: UI components are the interactive elements of your app that allow users to interact with it. These components include buttons, text fields, sliders, and more.</a:t>
            </a:r>
            <a:endParaRPr sz="2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05" name="Google Shape;305;p9"/>
          <p:cNvSpPr txBox="1">
            <a:spLocks noGrp="1"/>
          </p:cNvSpPr>
          <p:nvPr>
            <p:ph type="body" idx="1"/>
          </p:nvPr>
        </p:nvSpPr>
        <p:spPr>
          <a:xfrm>
            <a:off x="11549698" y="2330132"/>
            <a:ext cx="61109" cy="4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25000" lnSpcReduction="20000"/>
          </a:bodyPr>
          <a:lstStyle/>
          <a:p>
            <a:pPr marL="305435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2000"/>
              <a:buChar char="◼"/>
            </a:pPr>
            <a:r>
              <a:rPr lang="en-US"/>
              <a:t>       </a:t>
            </a:r>
          </a:p>
          <a:p>
            <a:pPr marL="305435" lvl="0" indent="-27940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ct val="92000"/>
              <a:buNone/>
            </a:pPr>
            <a:endParaRPr lang="en-US"/>
          </a:p>
        </p:txBody>
      </p:sp>
      <p:pic>
        <p:nvPicPr>
          <p:cNvPr id="306" name="Google Shape;306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85875" y="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3" name="Google Shape;313;p10"/>
          <p:cNvSpPr txBox="1">
            <a:spLocks noGrp="1"/>
          </p:cNvSpPr>
          <p:nvPr>
            <p:ph type="title"/>
          </p:nvPr>
        </p:nvSpPr>
        <p:spPr>
          <a:xfrm>
            <a:off x="7260025" y="383525"/>
            <a:ext cx="50406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Gill Sans" panose="020B0502020104020203"/>
              <a:buNone/>
            </a:pPr>
            <a:r>
              <a:rPr lang="en-US" sz="25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SIMPLE USER INTERACTIONS</a:t>
            </a:r>
            <a:endParaRPr sz="25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 panose="020B0502020104020203"/>
              <a:buNone/>
            </a:pPr>
            <a:endParaRPr b="0" cap="none"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314" name="Google Shape;314;p10" descr="A hand holding a phon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 l="14912" r="11720" b="-1"/>
          <a:stretch>
            <a:fillRect/>
          </a:stretch>
        </p:blipFill>
        <p:spPr>
          <a:xfrm>
            <a:off x="25" y="0"/>
            <a:ext cx="7260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0"/>
          <p:cNvSpPr/>
          <p:nvPr/>
        </p:nvSpPr>
        <p:spPr>
          <a:xfrm>
            <a:off x="8042147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7371925" y="1502600"/>
            <a:ext cx="48168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Flutter allows you to respond to various user gestures, including taps, swipes, and drags. This enables you to build dynamic and interactive UIs.</a:t>
            </a:r>
            <a:endParaRPr sz="2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2000" b="0" i="0" u="none" strike="noStrike" cap="none">
              <a:solidFill>
                <a:schemeClr val="dk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7375151" y="3978625"/>
            <a:ext cx="4722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Common User Interactions:</a:t>
            </a:r>
            <a:endParaRPr sz="27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7855442" y="4732814"/>
            <a:ext cx="3434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OnTap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OnSwipe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Long press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9" name="Google Shape;319;p1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85875" y="581770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0" name="Google Shape;330;p11"/>
          <p:cNvSpPr txBox="1">
            <a:spLocks noGrp="1"/>
          </p:cNvSpPr>
          <p:nvPr>
            <p:ph type="title"/>
          </p:nvPr>
        </p:nvSpPr>
        <p:spPr>
          <a:xfrm>
            <a:off x="169050" y="313050"/>
            <a:ext cx="5747100" cy="6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ill Sans" panose="020B0502020104020203"/>
              <a:buNone/>
            </a:pPr>
            <a:r>
              <a:rPr lang="en-US" sz="28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KEEPING TRACK OF UI DATA:</a:t>
            </a:r>
            <a:br>
              <a:rPr lang="en-US" sz="2600" b="1">
                <a:solidFill>
                  <a:schemeClr val="lt1"/>
                </a:solidFill>
              </a:rPr>
            </a:br>
            <a:br>
              <a:rPr lang="en-US" sz="3100" b="1"/>
            </a:br>
            <a:r>
              <a:rPr lang="en-US" sz="2600" b="1" u="sng">
                <a:solidFill>
                  <a:schemeClr val="lt1"/>
                </a:solidFill>
              </a:rPr>
              <a:t>STATE MANAGEMENT:</a:t>
            </a:r>
            <a:endParaRPr sz="2600" b="1" u="sng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ill Sans" panose="020B0502020104020203"/>
              <a:buNone/>
            </a:pPr>
            <a:endParaRPr sz="2400" u="sng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ill Sans" panose="020B0502020104020203"/>
              <a:buNone/>
            </a:pPr>
            <a:r>
              <a:rPr lang="en-US" sz="2400">
                <a:solidFill>
                  <a:schemeClr val="lt1"/>
                </a:solidFill>
              </a:rPr>
              <a:t>IT</a:t>
            </a:r>
            <a:r>
              <a:rPr lang="en-US" sz="2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ALLOWS YOU TO STORE AND UPDATE DATA THAT AFFECTS YOUR APP'S UI. </a:t>
            </a:r>
            <a:endParaRPr sz="2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ill Sans" panose="020B0502020104020203"/>
              <a:buNone/>
            </a:pPr>
            <a:r>
              <a:rPr lang="en-US" sz="2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DATA CAN BE ANYTHING FROM USER INPUT TO DYNAMIC VALUES CALCULATED AT RUNTIME.</a:t>
            </a:r>
            <a:endParaRPr sz="52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300"/>
              <a:buFont typeface="Gill Sans" panose="020B0502020104020203"/>
              <a:buNone/>
            </a:pPr>
            <a:endParaRPr sz="2300">
              <a:solidFill>
                <a:schemeClr val="lt1"/>
              </a:solidFill>
            </a:endParaRPr>
          </a:p>
        </p:txBody>
      </p:sp>
      <p:pic>
        <p:nvPicPr>
          <p:cNvPr id="331" name="Google Shape;331;p11" descr="Hands holding a phone with icons on i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 l="2127" r="15437"/>
          <a:stretch>
            <a:fillRect/>
          </a:stretch>
        </p:blipFill>
        <p:spPr>
          <a:xfrm>
            <a:off x="6012825" y="0"/>
            <a:ext cx="6179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85750" y="5728400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4" name="Google Shape;344;p12"/>
          <p:cNvSpPr txBox="1">
            <a:spLocks noGrp="1"/>
          </p:cNvSpPr>
          <p:nvPr>
            <p:ph type="title"/>
          </p:nvPr>
        </p:nvSpPr>
        <p:spPr>
          <a:xfrm>
            <a:off x="99825" y="902225"/>
            <a:ext cx="5783700" cy="11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Gill Sans" panose="020B0502020104020203"/>
              <a:buNone/>
            </a:pPr>
            <a:r>
              <a:rPr lang="en-US" sz="25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 TO THEMING</a:t>
            </a:r>
            <a:endParaRPr sz="25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40"/>
              <a:buFont typeface="Gill Sans" panose="020B0502020104020203"/>
              <a:buNone/>
            </a:pPr>
            <a:endParaRPr sz="3240" b="1">
              <a:solidFill>
                <a:schemeClr val="lt1"/>
              </a:solidFill>
            </a:endParaRPr>
          </a:p>
        </p:txBody>
      </p:sp>
      <p:pic>
        <p:nvPicPr>
          <p:cNvPr id="345" name="Google Shape;345;p12" descr="A person holding a table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 l="23357" r="3273" b="-1"/>
          <a:stretch>
            <a:fillRect/>
          </a:stretch>
        </p:blipFill>
        <p:spPr>
          <a:xfrm>
            <a:off x="5392300" y="0"/>
            <a:ext cx="7156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2"/>
          <p:cNvSpPr txBox="1"/>
          <p:nvPr/>
        </p:nvSpPr>
        <p:spPr>
          <a:xfrm>
            <a:off x="0" y="1707300"/>
            <a:ext cx="5392200" cy="45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 panose="020B0604020202020204"/>
              <a:buChar char="•"/>
            </a:pPr>
            <a:r>
              <a:rPr lang="en-US" sz="2300" b="1" i="0" u="sng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Consistent Appearance:</a:t>
            </a:r>
            <a:endParaRPr sz="2300" b="1" i="0" u="sng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20204"/>
              <a:buNone/>
            </a:pPr>
            <a:endParaRPr sz="2300" b="1" i="0" u="sng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Theming allows you to define the overall visual style of your app, including colors, fonts, and other visual elements.</a:t>
            </a:r>
            <a:endParaRPr sz="20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 panose="020B0604020202020204"/>
              <a:buChar char="•"/>
            </a:pPr>
            <a:r>
              <a:rPr lang="en-US" sz="2300" b="1" i="0" u="sng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Material Design</a:t>
            </a:r>
            <a:endParaRPr sz="2300" b="1" i="0" u="sng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20204"/>
              <a:buNone/>
            </a:pPr>
            <a:endParaRPr sz="2300" b="1" i="0" u="sng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is a set of guidelines for creating beautiful and functional UIs</a:t>
            </a:r>
            <a:endParaRPr sz="20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 panose="020B0604020202020204"/>
              <a:buChar char="•"/>
            </a:pPr>
            <a:r>
              <a:rPr lang="en-US" sz="2300" b="1" i="0" u="sng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Customizing Themes</a:t>
            </a:r>
            <a:endParaRPr sz="2300" b="1" i="0" u="sng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can customize the default theme or create your own custom theme</a:t>
            </a:r>
            <a:endParaRPr sz="3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47" name="Google Shape;347;p1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586757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"/>
          <p:cNvSpPr txBox="1">
            <a:spLocks noGrp="1"/>
          </p:cNvSpPr>
          <p:nvPr>
            <p:ph type="title"/>
          </p:nvPr>
        </p:nvSpPr>
        <p:spPr>
          <a:xfrm>
            <a:off x="332750" y="287300"/>
            <a:ext cx="4854300" cy="24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73000"/>
              <a:buFont typeface="Gill Sans" panose="020B0502020104020203"/>
              <a:buNone/>
            </a:pPr>
            <a:r>
              <a:rPr lang="en-US" sz="27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BUILDING COMPLEX UIs:</a:t>
            </a:r>
            <a:br>
              <a:rPr lang="en-US" sz="1600" b="1">
                <a:solidFill>
                  <a:srgbClr val="FFFFFF"/>
                </a:solidFill>
              </a:rPr>
            </a:br>
            <a:br>
              <a:rPr lang="en-US" sz="1610"/>
            </a:br>
            <a:r>
              <a:rPr lang="en-US" sz="1820" b="1" u="sng">
                <a:solidFill>
                  <a:srgbClr val="FFFFFF"/>
                </a:solidFill>
              </a:rPr>
              <a:t> </a:t>
            </a:r>
            <a:r>
              <a:rPr lang="en-US" sz="2100" b="1" u="sng">
                <a:solidFill>
                  <a:srgbClr val="FFFFFF"/>
                </a:solidFill>
              </a:rPr>
              <a:t>MATERIAL COMPONENTS:</a:t>
            </a:r>
            <a:endParaRPr sz="2100" b="1" u="sng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5000"/>
              <a:buFont typeface="Gill Sans" panose="020B0502020104020203"/>
              <a:buNone/>
            </a:pPr>
            <a:endParaRPr sz="2100" b="1" u="sng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Gill Sans" panose="020B0502020104020203"/>
              <a:buNone/>
            </a:pPr>
            <a:r>
              <a:rPr lang="en-US" sz="2000">
                <a:solidFill>
                  <a:srgbClr val="FFFFFF"/>
                </a:solidFill>
              </a:rPr>
              <a:t>THEY </a:t>
            </a:r>
            <a:r>
              <a:rPr lang="en-US" sz="20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ARE PRE-BUILT WIDGETS THAT IMPLEMENT MATERIAL DESIGN GUIDELINES. THEY PROVIDE A RICH SET OF UI ELEMENTS FOR BUILDING MODERN AND USER-FRIENDLY APPS.</a:t>
            </a:r>
            <a:endParaRPr sz="20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Gill Sans" panose="020B0502020104020203"/>
              <a:buNone/>
            </a:pPr>
            <a:endParaRPr sz="1500">
              <a:solidFill>
                <a:srgbClr val="FFFFFF"/>
              </a:solidFill>
            </a:endParaRPr>
          </a:p>
        </p:txBody>
      </p:sp>
      <p:sp>
        <p:nvSpPr>
          <p:cNvPr id="354" name="Google Shape;354;p13"/>
          <p:cNvSpPr txBox="1">
            <a:spLocks noGrp="1"/>
          </p:cNvSpPr>
          <p:nvPr>
            <p:ph type="body" idx="1"/>
          </p:nvPr>
        </p:nvSpPr>
        <p:spPr>
          <a:xfrm>
            <a:off x="7530003" y="4146373"/>
            <a:ext cx="44115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5435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6"/>
              <a:buFont typeface="Arial" panose="020B0604020202020204"/>
              <a:buChar char="◼"/>
            </a:pPr>
            <a:r>
              <a:rPr lang="en-US" sz="20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AppBar</a:t>
            </a: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5435" lvl="0" indent="-305435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1856"/>
              <a:buFont typeface="Arial" panose="020B0604020202020204"/>
              <a:buChar char="◼"/>
            </a:pPr>
            <a:r>
              <a:rPr lang="en-US" sz="20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BottomNavigationBar</a:t>
            </a:r>
            <a:endParaRPr sz="20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5435" lvl="0" indent="-305435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1856"/>
              <a:buFont typeface="Arial" panose="020B0604020202020204"/>
              <a:buChar char="◼"/>
            </a:pPr>
            <a:r>
              <a:rPr lang="en-US" sz="20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Card</a:t>
            </a: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5435" lvl="0" indent="-305435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1856"/>
              <a:buFont typeface="Arial" panose="020B0604020202020204"/>
              <a:buChar char="◼"/>
            </a:pPr>
            <a:r>
              <a:rPr lang="en-US" sz="20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FloatingActionButton</a:t>
            </a:r>
            <a:endParaRPr sz="2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5435" lvl="0" indent="-305435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1856"/>
              <a:buFont typeface="Arial" panose="020B0604020202020204"/>
              <a:buChar char="◼"/>
            </a:pPr>
            <a:r>
              <a:rPr lang="en-US" sz="20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Dialogs</a:t>
            </a:r>
            <a:endParaRPr sz="20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6930909" y="3508425"/>
            <a:ext cx="50106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Common Material Components</a:t>
            </a:r>
            <a:endParaRPr sz="25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1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356" name="Google Shape;356;p13"/>
          <p:cNvPicPr preferRelativeResize="0"/>
          <p:nvPr/>
        </p:nvPicPr>
        <p:blipFill rotWithShape="1">
          <a:blip r:embed="rId3"/>
          <a:srcRect t="-18970" b="18970"/>
          <a:stretch>
            <a:fillRect/>
          </a:stretch>
        </p:blipFill>
        <p:spPr>
          <a:xfrm>
            <a:off x="10685875" y="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3"/>
          <p:cNvPicPr preferRelativeResize="0"/>
          <p:nvPr/>
        </p:nvPicPr>
        <p:blipFill rotWithShape="1">
          <a:blip r:embed="rId4"/>
          <a:srcRect l="38744" t="20417" r="39162" b="20811"/>
          <a:stretch>
            <a:fillRect/>
          </a:stretch>
        </p:blipFill>
        <p:spPr>
          <a:xfrm>
            <a:off x="1255225" y="2619050"/>
            <a:ext cx="2032001" cy="405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3"/>
          <p:cNvPicPr preferRelativeResize="0"/>
          <p:nvPr/>
        </p:nvPicPr>
        <p:blipFill rotWithShape="1">
          <a:blip r:embed="rId4"/>
          <a:srcRect l="64890" t="19762" r="12718" b="18804"/>
          <a:stretch>
            <a:fillRect/>
          </a:stretch>
        </p:blipFill>
        <p:spPr>
          <a:xfrm>
            <a:off x="5036613" y="712725"/>
            <a:ext cx="2118767" cy="43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2b83260ff38_1_104"/>
          <p:cNvPicPr preferRelativeResize="0"/>
          <p:nvPr/>
        </p:nvPicPr>
        <p:blipFill rotWithShape="1">
          <a:blip r:embed="rId3"/>
          <a:srcRect t="-18970" b="18970"/>
          <a:stretch>
            <a:fillRect/>
          </a:stretch>
        </p:blipFill>
        <p:spPr>
          <a:xfrm>
            <a:off x="10386575" y="15620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2b83260ff38_1_10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751755" y="328183"/>
            <a:ext cx="2819794" cy="620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2b83260ff38_1_104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462175" y="2445000"/>
            <a:ext cx="4837725" cy="274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2b83260ff38_1_104"/>
          <p:cNvSpPr txBox="1"/>
          <p:nvPr/>
        </p:nvSpPr>
        <p:spPr>
          <a:xfrm>
            <a:off x="264325" y="255325"/>
            <a:ext cx="18669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AppBar</a:t>
            </a:r>
            <a:endParaRPr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g2b83260ff38_1_4"/>
          <p:cNvPicPr preferRelativeResize="0"/>
          <p:nvPr/>
        </p:nvPicPr>
        <p:blipFill rotWithShape="1">
          <a:blip r:embed="rId3"/>
          <a:srcRect t="-18970" b="18970"/>
          <a:stretch>
            <a:fillRect/>
          </a:stretch>
        </p:blipFill>
        <p:spPr>
          <a:xfrm>
            <a:off x="10254425" y="160025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g2b83260ff38_1_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731638" y="313897"/>
            <a:ext cx="2876951" cy="623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2b83260ff38_1_4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039949" y="1632759"/>
            <a:ext cx="4649913" cy="451755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2b83260ff38_1_4"/>
          <p:cNvSpPr txBox="1"/>
          <p:nvPr/>
        </p:nvSpPr>
        <p:spPr>
          <a:xfrm>
            <a:off x="0" y="160025"/>
            <a:ext cx="3700500" cy="16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BottomNavigationBar</a:t>
            </a:r>
            <a:endParaRPr sz="3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g2b83260ff38_1_24"/>
          <p:cNvPicPr preferRelativeResize="0"/>
          <p:nvPr/>
        </p:nvPicPr>
        <p:blipFill rotWithShape="1">
          <a:blip r:embed="rId3"/>
          <a:srcRect t="-18970" b="18970"/>
          <a:stretch>
            <a:fillRect/>
          </a:stretch>
        </p:blipFill>
        <p:spPr>
          <a:xfrm>
            <a:off x="10685875" y="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2b83260ff38_1_2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422411" y="309120"/>
            <a:ext cx="2905530" cy="6239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2b83260ff38_1_24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172675" y="1757276"/>
            <a:ext cx="4762075" cy="33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2b83260ff38_1_24"/>
          <p:cNvSpPr txBox="1"/>
          <p:nvPr/>
        </p:nvSpPr>
        <p:spPr>
          <a:xfrm>
            <a:off x="82625" y="198225"/>
            <a:ext cx="2825100" cy="12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Card</a:t>
            </a:r>
            <a:endParaRPr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2b83260ff38_1_44"/>
          <p:cNvPicPr preferRelativeResize="0"/>
          <p:nvPr/>
        </p:nvPicPr>
        <p:blipFill rotWithShape="1">
          <a:blip r:embed="rId3"/>
          <a:srcRect t="-18970" b="18970"/>
          <a:stretch>
            <a:fillRect/>
          </a:stretch>
        </p:blipFill>
        <p:spPr>
          <a:xfrm>
            <a:off x="10685875" y="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2b83260ff38_1_4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988748" y="383326"/>
            <a:ext cx="2867425" cy="62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2b83260ff38_1_44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971575" y="1788150"/>
            <a:ext cx="5055225" cy="28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2b83260ff38_1_44"/>
          <p:cNvSpPr txBox="1"/>
          <p:nvPr/>
        </p:nvSpPr>
        <p:spPr>
          <a:xfrm>
            <a:off x="198250" y="297375"/>
            <a:ext cx="40143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3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FloatingActionButton</a:t>
            </a:r>
            <a:endParaRPr sz="39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g2b83260ff38_1_64"/>
          <p:cNvPicPr preferRelativeResize="0"/>
          <p:nvPr/>
        </p:nvPicPr>
        <p:blipFill rotWithShape="1">
          <a:blip r:embed="rId3"/>
          <a:srcRect t="-18970" b="18970"/>
          <a:stretch>
            <a:fillRect/>
          </a:stretch>
        </p:blipFill>
        <p:spPr>
          <a:xfrm>
            <a:off x="10685875" y="-264450"/>
            <a:ext cx="1506125" cy="11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2b83260ff38_1_6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592875" y="865150"/>
            <a:ext cx="6226175" cy="54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2b83260ff38_1_64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372875" y="274971"/>
            <a:ext cx="2905550" cy="6308054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2b83260ff38_1_64"/>
          <p:cNvSpPr txBox="1"/>
          <p:nvPr/>
        </p:nvSpPr>
        <p:spPr>
          <a:xfrm>
            <a:off x="0" y="396500"/>
            <a:ext cx="2527500" cy="1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Dialogs</a:t>
            </a:r>
            <a:endParaRPr sz="4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357200" y="457200"/>
            <a:ext cx="3792600" cy="59334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0" name="Google Shape;410;p14"/>
          <p:cNvSpPr txBox="1">
            <a:spLocks noGrp="1"/>
          </p:cNvSpPr>
          <p:nvPr>
            <p:ph type="title"/>
          </p:nvPr>
        </p:nvSpPr>
        <p:spPr>
          <a:xfrm>
            <a:off x="672280" y="944752"/>
            <a:ext cx="3259016" cy="146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 panose="020B0502020104020203"/>
              <a:buNone/>
            </a:pPr>
            <a:r>
              <a:rPr lang="en-US" sz="25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ANIMATIONS AND TRANSITIONS</a:t>
            </a:r>
            <a:endParaRPr sz="250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800"/>
              <a:buFont typeface="Gill Sans" panose="020B0502020104020203"/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11" name="Google Shape;411;p14"/>
          <p:cNvSpPr txBox="1">
            <a:spLocks noGrp="1"/>
          </p:cNvSpPr>
          <p:nvPr>
            <p:ph type="body" idx="1"/>
          </p:nvPr>
        </p:nvSpPr>
        <p:spPr>
          <a:xfrm>
            <a:off x="495037" y="2266200"/>
            <a:ext cx="3613500" cy="4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5435" lvl="0" indent="-30543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6"/>
              <a:buFont typeface="Arial" panose="020B0604020202020204"/>
              <a:buChar char="◼"/>
            </a:pPr>
            <a:r>
              <a:rPr lang="en-US" sz="21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Adding Life and Dynamism: Animations and transitions add visual interest and improve the user experience by making your UI feel more natural and engaging.</a:t>
            </a:r>
            <a:endParaRPr sz="21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5435" lvl="0" indent="-200025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656"/>
              <a:buNone/>
            </a:pPr>
            <a:endParaRPr sz="33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5435" lvl="0" indent="-305435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1956"/>
              <a:buFont typeface="Arial" panose="020B0604020202020204"/>
              <a:buChar char="◼"/>
            </a:pPr>
            <a:r>
              <a:rPr lang="en-US" sz="21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Flutter's Animation Framework: Flutter provides a powerful animation framework that allows you to easily </a:t>
            </a:r>
            <a:r>
              <a:rPr lang="en-US" sz="2100">
                <a:solidFill>
                  <a:srgbClr val="FFFFFF"/>
                </a:solidFill>
              </a:rPr>
              <a:t>use </a:t>
            </a:r>
            <a:r>
              <a:rPr lang="en-US" sz="21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animations.</a:t>
            </a:r>
            <a:endParaRPr sz="21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5435" lvl="0" indent="-200025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656"/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15" name="Google Shape;415;p14" descr="A person standing next to a large cellphone&#10;&#10;Description automatically generated"/>
          <p:cNvPicPr preferRelativeResize="0"/>
          <p:nvPr/>
        </p:nvPicPr>
        <p:blipFill rotWithShape="1">
          <a:blip r:embed="rId3"/>
          <a:srcRect t="11377" b="11469"/>
          <a:stretch>
            <a:fillRect/>
          </a:stretch>
        </p:blipFill>
        <p:spPr>
          <a:xfrm>
            <a:off x="4241825" y="569091"/>
            <a:ext cx="7400275" cy="5709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85875" y="6018625"/>
            <a:ext cx="1506125" cy="11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VTI">
  <a:themeElements>
    <a:clrScheme name="DividendVTI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1260</Words>
  <Application>Microsoft Office PowerPoint</Application>
  <PresentationFormat>Widescreen</PresentationFormat>
  <Paragraphs>195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Noto Sans Symbols</vt:lpstr>
      <vt:lpstr>Roboto</vt:lpstr>
      <vt:lpstr>Gill Sans</vt:lpstr>
      <vt:lpstr>Consolas</vt:lpstr>
      <vt:lpstr>Arial</vt:lpstr>
      <vt:lpstr>Calibri</vt:lpstr>
      <vt:lpstr>DividendVTI</vt:lpstr>
      <vt:lpstr>Office Theme</vt:lpstr>
      <vt:lpstr>INTRODUCTION TO FLUTTER WIDGETS </vt:lpstr>
      <vt:lpstr>THE FUNDAMENTAL ELEMENTS OF YOUR APP'S UI.  REUSABLE AND COMPOSABLE, ENABLING YOU TO BUILD COMPLEX UIS BY COMBINING SMALLER WIDGETS.  OFFERS A RICH LIBRARY OF PRE-BUILT WIDGETS FOR BASIC AND ADVANCED UI COMPONENTS.  HIGHLY CUSTOMIZABLE, ALLOWING YOU TO TAILOR THEIR APPEARANCE AND BEHAVIOR TO YOUR SPECIFIC NEEDS. </vt:lpstr>
      <vt:lpstr> LAYOUTS </vt:lpstr>
      <vt:lpstr> </vt:lpstr>
      <vt:lpstr> </vt:lpstr>
      <vt:lpstr> </vt:lpstr>
      <vt:lpstr> </vt:lpstr>
      <vt:lpstr> </vt:lpstr>
      <vt:lpstr>PowerPoint Presentation</vt:lpstr>
      <vt:lpstr>SIMPLE USER INTERACTIONS </vt:lpstr>
      <vt:lpstr>KEEPING TRACK OF UI DATA:  STATE MANAGEMENT:  IT ALLOWS YOU TO STORE AND UPDATE DATA THAT AFFECTS YOUR APP'S UI.  THIS DATA CAN BE ANYTHING FROM USER INPUT TO DYNAMIC VALUES CALCULATED AT RUNTIME. </vt:lpstr>
      <vt:lpstr>INTRODUCTION TO THEMING </vt:lpstr>
      <vt:lpstr>BUILDING COMPLEX UIs:   MATERIAL COMPONENTS:  THEY ARE PRE-BUILT WIDGETS THAT IMPLEMENT MATERIAL DESIGN GUIDELINES. THEY PROVIDE A RICH SET OF UI ELEMENTS FOR BUILDING MODERN AND USER-FRIENDLY APPS.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ANIMATIONS AND TRANSITIONS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FLUTTER WIDGETS </dc:title>
  <dc:creator>Admin</dc:creator>
  <cp:lastModifiedBy>ANJANA PRAMESH</cp:lastModifiedBy>
  <cp:revision>2</cp:revision>
  <dcterms:created xsi:type="dcterms:W3CDTF">2025-06-03T06:12:50Z</dcterms:created>
  <dcterms:modified xsi:type="dcterms:W3CDTF">2025-07-18T06:56:10Z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9B80C01F3E414D97ADCFF6B0045929E7_12</vt:lpwstr>
  </property>
  <property fmtid="{D5CDD505-2E9C-101B-9397-08002B2CF9AE}" pid="3" name="KSOProductBuildVer">
    <vt:lpwstr>1033-12.2.0.21179</vt:lpwstr>
  </property>
</Properties>
</file>